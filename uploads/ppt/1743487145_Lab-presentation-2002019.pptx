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8" r:id="rId5"/>
    <p:sldId id="311" r:id="rId6"/>
    <p:sldId id="320" r:id="rId7"/>
    <p:sldId id="321" r:id="rId8"/>
    <p:sldId id="322" r:id="rId9"/>
    <p:sldId id="323" r:id="rId10"/>
    <p:sldId id="324" r:id="rId11"/>
    <p:sldId id="325" r:id="rId12"/>
    <p:sldId id="326" r:id="rId13"/>
    <p:sldId id="327" r:id="rId14"/>
    <p:sldId id="328" r:id="rId15"/>
    <p:sldId id="329" r:id="rId16"/>
    <p:sldId id="330" r:id="rId17"/>
    <p:sldId id="331" r:id="rId18"/>
    <p:sldId id="332" r:id="rId19"/>
    <p:sldId id="333" r:id="rId20"/>
    <p:sldId id="334" r:id="rId21"/>
    <p:sldId id="33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9" autoAdjust="0"/>
  </p:normalViewPr>
  <p:slideViewPr>
    <p:cSldViewPr snapToGrid="0">
      <p:cViewPr varScale="1">
        <p:scale>
          <a:sx n="110" d="100"/>
          <a:sy n="110" d="100"/>
        </p:scale>
        <p:origin x="63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equl Islam" userId="075f7ecd4189bb73" providerId="LiveId" clId="{0CB777D7-3F8A-4A3C-B50E-60B0C121367C}"/>
    <pc:docChg chg="undo custSel modSld">
      <pc:chgData name="Tarequl Islam" userId="075f7ecd4189bb73" providerId="LiveId" clId="{0CB777D7-3F8A-4A3C-B50E-60B0C121367C}" dt="2023-11-06T21:23:23.922" v="182" actId="20577"/>
      <pc:docMkLst>
        <pc:docMk/>
      </pc:docMkLst>
      <pc:sldChg chg="modSp mod">
        <pc:chgData name="Tarequl Islam" userId="075f7ecd4189bb73" providerId="LiveId" clId="{0CB777D7-3F8A-4A3C-B50E-60B0C121367C}" dt="2023-11-06T21:23:23.922" v="182" actId="20577"/>
        <pc:sldMkLst>
          <pc:docMk/>
          <pc:sldMk cId="4133821766" sldId="311"/>
        </pc:sldMkLst>
        <pc:spChg chg="mod">
          <ac:chgData name="Tarequl Islam" userId="075f7ecd4189bb73" providerId="LiveId" clId="{0CB777D7-3F8A-4A3C-B50E-60B0C121367C}" dt="2023-11-06T21:22:44.310" v="156" actId="20577"/>
          <ac:spMkLst>
            <pc:docMk/>
            <pc:sldMk cId="4133821766" sldId="311"/>
            <ac:spMk id="2" creationId="{F93CECD6-E7B6-42D8-8973-0204D277CB4D}"/>
          </ac:spMkLst>
        </pc:spChg>
        <pc:spChg chg="mod">
          <ac:chgData name="Tarequl Islam" userId="075f7ecd4189bb73" providerId="LiveId" clId="{0CB777D7-3F8A-4A3C-B50E-60B0C121367C}" dt="2023-11-06T21:23:23.922" v="182" actId="20577"/>
          <ac:spMkLst>
            <pc:docMk/>
            <pc:sldMk cId="4133821766" sldId="311"/>
            <ac:spMk id="3" creationId="{6320B7FE-4F03-4C9B-990F-B24431B7D4B0}"/>
          </ac:spMkLst>
        </pc:spChg>
      </pc:sldChg>
      <pc:sldChg chg="addSp delSp modSp mod">
        <pc:chgData name="Tarequl Islam" userId="075f7ecd4189bb73" providerId="LiveId" clId="{0CB777D7-3F8A-4A3C-B50E-60B0C121367C}" dt="2023-11-06T21:10:36.998" v="124" actId="1076"/>
        <pc:sldMkLst>
          <pc:docMk/>
          <pc:sldMk cId="208955416" sldId="323"/>
        </pc:sldMkLst>
        <pc:spChg chg="mod">
          <ac:chgData name="Tarequl Islam" userId="075f7ecd4189bb73" providerId="LiveId" clId="{0CB777D7-3F8A-4A3C-B50E-60B0C121367C}" dt="2023-11-06T20:50:44.990" v="53" actId="1076"/>
          <ac:spMkLst>
            <pc:docMk/>
            <pc:sldMk cId="208955416" sldId="323"/>
            <ac:spMk id="2" creationId="{498AFA72-E6B6-4D31-9EE5-03D988A55BFF}"/>
          </ac:spMkLst>
        </pc:spChg>
        <pc:spChg chg="mod">
          <ac:chgData name="Tarequl Islam" userId="075f7ecd4189bb73" providerId="LiveId" clId="{0CB777D7-3F8A-4A3C-B50E-60B0C121367C}" dt="2023-11-06T21:02:32.174" v="89" actId="1076"/>
          <ac:spMkLst>
            <pc:docMk/>
            <pc:sldMk cId="208955416" sldId="323"/>
            <ac:spMk id="13" creationId="{6B5EAD3B-508A-49D4-924C-7A9401B7678E}"/>
          </ac:spMkLst>
        </pc:spChg>
        <pc:spChg chg="mod">
          <ac:chgData name="Tarequl Islam" userId="075f7ecd4189bb73" providerId="LiveId" clId="{0CB777D7-3F8A-4A3C-B50E-60B0C121367C}" dt="2023-11-06T21:10:36.998" v="124" actId="1076"/>
          <ac:spMkLst>
            <pc:docMk/>
            <pc:sldMk cId="208955416" sldId="323"/>
            <ac:spMk id="16" creationId="{F55F56FD-5E7F-443D-A36A-9157B0346C79}"/>
          </ac:spMkLst>
        </pc:spChg>
        <pc:spChg chg="mod">
          <ac:chgData name="Tarequl Islam" userId="075f7ecd4189bb73" providerId="LiveId" clId="{0CB777D7-3F8A-4A3C-B50E-60B0C121367C}" dt="2023-11-06T21:10:12.101" v="120" actId="1076"/>
          <ac:spMkLst>
            <pc:docMk/>
            <pc:sldMk cId="208955416" sldId="323"/>
            <ac:spMk id="17" creationId="{4B44FD33-EAA5-4296-9592-D01B9717CA6A}"/>
          </ac:spMkLst>
        </pc:spChg>
        <pc:picChg chg="add del">
          <ac:chgData name="Tarequl Islam" userId="075f7ecd4189bb73" providerId="LiveId" clId="{0CB777D7-3F8A-4A3C-B50E-60B0C121367C}" dt="2023-11-06T20:52:41.882" v="60" actId="478"/>
          <ac:picMkLst>
            <pc:docMk/>
            <pc:sldMk cId="208955416" sldId="323"/>
            <ac:picMk id="4" creationId="{BFB8AEF3-7C33-4BD5-9DF2-076DD4699329}"/>
          </ac:picMkLst>
        </pc:picChg>
        <pc:picChg chg="add del mod">
          <ac:chgData name="Tarequl Islam" userId="075f7ecd4189bb73" providerId="LiveId" clId="{0CB777D7-3F8A-4A3C-B50E-60B0C121367C}" dt="2023-11-06T20:52:26.612" v="58" actId="22"/>
          <ac:picMkLst>
            <pc:docMk/>
            <pc:sldMk cId="208955416" sldId="323"/>
            <ac:picMk id="5" creationId="{863EF44E-72C1-CCF3-6C7C-4C7C4DBEE77F}"/>
          </ac:picMkLst>
        </pc:picChg>
        <pc:picChg chg="del">
          <ac:chgData name="Tarequl Islam" userId="075f7ecd4189bb73" providerId="LiveId" clId="{0CB777D7-3F8A-4A3C-B50E-60B0C121367C}" dt="2023-11-06T21:03:36.042" v="96" actId="478"/>
          <ac:picMkLst>
            <pc:docMk/>
            <pc:sldMk cId="208955416" sldId="323"/>
            <ac:picMk id="6" creationId="{50D53B86-DAFB-4B2F-A4B5-7D545E2C4056}"/>
          </ac:picMkLst>
        </pc:picChg>
        <pc:picChg chg="del">
          <ac:chgData name="Tarequl Islam" userId="075f7ecd4189bb73" providerId="LiveId" clId="{0CB777D7-3F8A-4A3C-B50E-60B0C121367C}" dt="2023-11-06T20:56:00.937" v="66" actId="478"/>
          <ac:picMkLst>
            <pc:docMk/>
            <pc:sldMk cId="208955416" sldId="323"/>
            <ac:picMk id="8" creationId="{00D2D0A4-6B6E-4782-8EB2-73F984F8D837}"/>
          </ac:picMkLst>
        </pc:picChg>
        <pc:picChg chg="add del mod">
          <ac:chgData name="Tarequl Islam" userId="075f7ecd4189bb73" providerId="LiveId" clId="{0CB777D7-3F8A-4A3C-B50E-60B0C121367C}" dt="2023-11-06T21:01:21.065" v="80" actId="478"/>
          <ac:picMkLst>
            <pc:docMk/>
            <pc:sldMk cId="208955416" sldId="323"/>
            <ac:picMk id="9" creationId="{CDEA5E56-6BB5-A410-E0E2-46B1DF408A19}"/>
          </ac:picMkLst>
        </pc:picChg>
        <pc:picChg chg="del">
          <ac:chgData name="Tarequl Islam" userId="075f7ecd4189bb73" providerId="LiveId" clId="{0CB777D7-3F8A-4A3C-B50E-60B0C121367C}" dt="2023-11-06T21:03:39.129" v="97" actId="478"/>
          <ac:picMkLst>
            <pc:docMk/>
            <pc:sldMk cId="208955416" sldId="323"/>
            <ac:picMk id="10" creationId="{BB408A30-B676-4260-A16C-A7E9F785229C}"/>
          </ac:picMkLst>
        </pc:picChg>
        <pc:picChg chg="add del mod">
          <ac:chgData name="Tarequl Islam" userId="075f7ecd4189bb73" providerId="LiveId" clId="{0CB777D7-3F8A-4A3C-B50E-60B0C121367C}" dt="2023-11-06T20:57:11.657" v="74" actId="478"/>
          <ac:picMkLst>
            <pc:docMk/>
            <pc:sldMk cId="208955416" sldId="323"/>
            <ac:picMk id="12" creationId="{DF8F5E2D-8188-92F3-3980-5902F1F32228}"/>
          </ac:picMkLst>
        </pc:picChg>
        <pc:picChg chg="add mod">
          <ac:chgData name="Tarequl Islam" userId="075f7ecd4189bb73" providerId="LiveId" clId="{0CB777D7-3F8A-4A3C-B50E-60B0C121367C}" dt="2023-11-06T21:03:23.925" v="95" actId="14100"/>
          <ac:picMkLst>
            <pc:docMk/>
            <pc:sldMk cId="208955416" sldId="323"/>
            <ac:picMk id="18" creationId="{AEB69150-4CD3-F341-5412-E8D8AF55DE70}"/>
          </ac:picMkLst>
        </pc:picChg>
        <pc:picChg chg="del mod">
          <ac:chgData name="Tarequl Islam" userId="075f7ecd4189bb73" providerId="LiveId" clId="{0CB777D7-3F8A-4A3C-B50E-60B0C121367C}" dt="2023-11-06T21:03:41.208" v="98" actId="478"/>
          <ac:picMkLst>
            <pc:docMk/>
            <pc:sldMk cId="208955416" sldId="323"/>
            <ac:picMk id="19" creationId="{7F89EEF2-3576-47DB-A8D7-079FA23A7E81}"/>
          </ac:picMkLst>
        </pc:picChg>
        <pc:picChg chg="add mod">
          <ac:chgData name="Tarequl Islam" userId="075f7ecd4189bb73" providerId="LiveId" clId="{0CB777D7-3F8A-4A3C-B50E-60B0C121367C}" dt="2023-11-06T21:02:44.962" v="91" actId="14100"/>
          <ac:picMkLst>
            <pc:docMk/>
            <pc:sldMk cId="208955416" sldId="323"/>
            <ac:picMk id="21" creationId="{7AD19027-C2A1-9F89-8A7B-CBB445C893F2}"/>
          </ac:picMkLst>
        </pc:picChg>
        <pc:picChg chg="add mod">
          <ac:chgData name="Tarequl Islam" userId="075f7ecd4189bb73" providerId="LiveId" clId="{0CB777D7-3F8A-4A3C-B50E-60B0C121367C}" dt="2023-11-06T21:06:55.501" v="108" actId="1076"/>
          <ac:picMkLst>
            <pc:docMk/>
            <pc:sldMk cId="208955416" sldId="323"/>
            <ac:picMk id="23" creationId="{E25EE67C-F754-D22F-02B8-4C65A715CDBC}"/>
          </ac:picMkLst>
        </pc:picChg>
        <pc:picChg chg="add mod">
          <ac:chgData name="Tarequl Islam" userId="075f7ecd4189bb73" providerId="LiveId" clId="{0CB777D7-3F8A-4A3C-B50E-60B0C121367C}" dt="2023-11-06T21:10:10.149" v="119" actId="1076"/>
          <ac:picMkLst>
            <pc:docMk/>
            <pc:sldMk cId="208955416" sldId="323"/>
            <ac:picMk id="25" creationId="{5D192A8F-165D-7E5E-5E80-B3345E276217}"/>
          </ac:picMkLst>
        </pc:picChg>
        <pc:picChg chg="add mod">
          <ac:chgData name="Tarequl Islam" userId="075f7ecd4189bb73" providerId="LiveId" clId="{0CB777D7-3F8A-4A3C-B50E-60B0C121367C}" dt="2023-11-06T21:10:25.085" v="123" actId="1076"/>
          <ac:picMkLst>
            <pc:docMk/>
            <pc:sldMk cId="208955416" sldId="323"/>
            <ac:picMk id="27" creationId="{59E9E9A3-C050-84C4-6F44-C06D874C2517}"/>
          </ac:picMkLst>
        </pc:picChg>
      </pc:sldChg>
      <pc:sldChg chg="modSp mod">
        <pc:chgData name="Tarequl Islam" userId="075f7ecd4189bb73" providerId="LiveId" clId="{0CB777D7-3F8A-4A3C-B50E-60B0C121367C}" dt="2023-11-06T17:53:42.540" v="7" actId="20577"/>
        <pc:sldMkLst>
          <pc:docMk/>
          <pc:sldMk cId="3482010465" sldId="329"/>
        </pc:sldMkLst>
        <pc:spChg chg="mod">
          <ac:chgData name="Tarequl Islam" userId="075f7ecd4189bb73" providerId="LiveId" clId="{0CB777D7-3F8A-4A3C-B50E-60B0C121367C}" dt="2023-11-06T17:53:42.540" v="7" actId="20577"/>
          <ac:spMkLst>
            <pc:docMk/>
            <pc:sldMk cId="3482010465" sldId="329"/>
            <ac:spMk id="3" creationId="{8CE430DE-601E-4086-ABE3-34E83C5E4222}"/>
          </ac:spMkLst>
        </pc:spChg>
      </pc:sldChg>
      <pc:sldChg chg="modSp mod">
        <pc:chgData name="Tarequl Islam" userId="075f7ecd4189bb73" providerId="LiveId" clId="{0CB777D7-3F8A-4A3C-B50E-60B0C121367C}" dt="2023-11-06T17:53:39.329" v="6" actId="20577"/>
        <pc:sldMkLst>
          <pc:docMk/>
          <pc:sldMk cId="2601893903" sldId="330"/>
        </pc:sldMkLst>
        <pc:spChg chg="mod">
          <ac:chgData name="Tarequl Islam" userId="075f7ecd4189bb73" providerId="LiveId" clId="{0CB777D7-3F8A-4A3C-B50E-60B0C121367C}" dt="2023-11-06T17:53:39.329" v="6" actId="20577"/>
          <ac:spMkLst>
            <pc:docMk/>
            <pc:sldMk cId="2601893903" sldId="330"/>
            <ac:spMk id="3" creationId="{D12D5D5D-49D6-4122-868B-47BC134BAAF5}"/>
          </ac:spMkLst>
        </pc:spChg>
      </pc:sldChg>
      <pc:sldChg chg="modSp mod">
        <pc:chgData name="Tarequl Islam" userId="075f7ecd4189bb73" providerId="LiveId" clId="{0CB777D7-3F8A-4A3C-B50E-60B0C121367C}" dt="2023-11-06T21:12:27.943" v="125" actId="20577"/>
        <pc:sldMkLst>
          <pc:docMk/>
          <pc:sldMk cId="2359759567" sldId="331"/>
        </pc:sldMkLst>
        <pc:spChg chg="mod">
          <ac:chgData name="Tarequl Islam" userId="075f7ecd4189bb73" providerId="LiveId" clId="{0CB777D7-3F8A-4A3C-B50E-60B0C121367C}" dt="2023-11-06T21:12:27.943" v="125" actId="20577"/>
          <ac:spMkLst>
            <pc:docMk/>
            <pc:sldMk cId="2359759567" sldId="331"/>
            <ac:spMk id="4" creationId="{AD093813-F607-4C86-9D67-4794BFD83B26}"/>
          </ac:spMkLst>
        </pc:spChg>
      </pc:sldChg>
      <pc:sldChg chg="modSp mod">
        <pc:chgData name="Tarequl Islam" userId="075f7ecd4189bb73" providerId="LiveId" clId="{0CB777D7-3F8A-4A3C-B50E-60B0C121367C}" dt="2023-11-06T21:16:20.990" v="130" actId="20577"/>
        <pc:sldMkLst>
          <pc:docMk/>
          <pc:sldMk cId="3789644483" sldId="332"/>
        </pc:sldMkLst>
        <pc:spChg chg="mod">
          <ac:chgData name="Tarequl Islam" userId="075f7ecd4189bb73" providerId="LiveId" clId="{0CB777D7-3F8A-4A3C-B50E-60B0C121367C}" dt="2023-11-06T21:16:20.990" v="130" actId="20577"/>
          <ac:spMkLst>
            <pc:docMk/>
            <pc:sldMk cId="3789644483" sldId="332"/>
            <ac:spMk id="4" creationId="{33D2FDCF-11EC-4BB5-8132-19D1266A6FD6}"/>
          </ac:spMkLst>
        </pc:spChg>
      </pc:sldChg>
      <pc:sldChg chg="modSp mod">
        <pc:chgData name="Tarequl Islam" userId="075f7ecd4189bb73" providerId="LiveId" clId="{0CB777D7-3F8A-4A3C-B50E-60B0C121367C}" dt="2023-11-06T21:16:54.358" v="136" actId="20577"/>
        <pc:sldMkLst>
          <pc:docMk/>
          <pc:sldMk cId="2690103171" sldId="333"/>
        </pc:sldMkLst>
        <pc:spChg chg="mod">
          <ac:chgData name="Tarequl Islam" userId="075f7ecd4189bb73" providerId="LiveId" clId="{0CB777D7-3F8A-4A3C-B50E-60B0C121367C}" dt="2023-11-06T21:16:54.358" v="136" actId="20577"/>
          <ac:spMkLst>
            <pc:docMk/>
            <pc:sldMk cId="2690103171" sldId="333"/>
            <ac:spMk id="3" creationId="{73B224AE-86A8-4FE4-9E97-86651D19163B}"/>
          </ac:spMkLst>
        </pc:spChg>
      </pc:sldChg>
      <pc:sldChg chg="modSp mod">
        <pc:chgData name="Tarequl Islam" userId="075f7ecd4189bb73" providerId="LiveId" clId="{0CB777D7-3F8A-4A3C-B50E-60B0C121367C}" dt="2023-11-06T21:16:59.742" v="137" actId="20577"/>
        <pc:sldMkLst>
          <pc:docMk/>
          <pc:sldMk cId="1713244602" sldId="334"/>
        </pc:sldMkLst>
        <pc:spChg chg="mod">
          <ac:chgData name="Tarequl Islam" userId="075f7ecd4189bb73" providerId="LiveId" clId="{0CB777D7-3F8A-4A3C-B50E-60B0C121367C}" dt="2023-11-06T21:16:59.742" v="137" actId="20577"/>
          <ac:spMkLst>
            <pc:docMk/>
            <pc:sldMk cId="1713244602" sldId="334"/>
            <ac:spMk id="3" creationId="{4510CC1B-2D9C-4CC0-8B18-4B6CC8EF841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11/7/2023</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11/7/2023</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11/7/2023</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11/7/2023</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11/7/2023</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11/7/2023</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11/7/2023</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11/7/2023</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11/7/2023</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11/7/2023</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hyperlink" Target="https://tarekportfolio2002019.000webhostapp.com/" TargetMode="Externa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cxnSp>
        <p:nvCxnSpPr>
          <p:cNvPr id="29" name="Straight Connector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08AC96E-AA33-4309-B51D-072F59E6EC0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556686" y="1"/>
            <a:ext cx="4635315" cy="6857999"/>
          </a:xfrm>
          <a:prstGeom prst="rect">
            <a:avLst/>
          </a:prstGeom>
        </p:spPr>
      </p:pic>
      <p:sp>
        <p:nvSpPr>
          <p:cNvPr id="9" name="TextBox 8">
            <a:extLst>
              <a:ext uri="{FF2B5EF4-FFF2-40B4-BE49-F238E27FC236}">
                <a16:creationId xmlns:a16="http://schemas.microsoft.com/office/drawing/2014/main" id="{63EE94FB-E0F3-4E56-A271-4CD50904F586}"/>
              </a:ext>
            </a:extLst>
          </p:cNvPr>
          <p:cNvSpPr txBox="1"/>
          <p:nvPr/>
        </p:nvSpPr>
        <p:spPr>
          <a:xfrm>
            <a:off x="876693" y="3223967"/>
            <a:ext cx="6023728" cy="1200329"/>
          </a:xfrm>
          <a:prstGeom prst="rect">
            <a:avLst/>
          </a:prstGeom>
          <a:noFill/>
        </p:spPr>
        <p:txBody>
          <a:bodyPr wrap="square" rtlCol="0">
            <a:spAutoFit/>
          </a:bodyPr>
          <a:lstStyle/>
          <a:p>
            <a:r>
              <a:rPr lang="en-US" sz="3600" dirty="0">
                <a:solidFill>
                  <a:srgbClr val="002060"/>
                </a:solidFill>
                <a:latin typeface="Bahnschrift SemiBold SemiConden" panose="020B0502040204020203" pitchFamily="34" charset="0"/>
              </a:rPr>
              <a:t>DIGITAL CONTENT DESIGN AND DEVELOPMENT</a:t>
            </a:r>
          </a:p>
        </p:txBody>
      </p:sp>
    </p:spTree>
    <p:extLst>
      <p:ext uri="{BB962C8B-B14F-4D97-AF65-F5344CB8AC3E}">
        <p14:creationId xmlns:p14="http://schemas.microsoft.com/office/powerpoint/2010/main" val="3912747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3CECD6-E7B6-42D8-8973-0204D277CB4D}"/>
              </a:ext>
            </a:extLst>
          </p:cNvPr>
          <p:cNvSpPr txBox="1"/>
          <p:nvPr/>
        </p:nvSpPr>
        <p:spPr>
          <a:xfrm>
            <a:off x="688156" y="2300140"/>
            <a:ext cx="5505254" cy="2800767"/>
          </a:xfrm>
          <a:prstGeom prst="rect">
            <a:avLst/>
          </a:prstGeom>
          <a:noFill/>
        </p:spPr>
        <p:txBody>
          <a:bodyPr wrap="square" rtlCol="0">
            <a:spAutoFit/>
          </a:bodyPr>
          <a:lstStyle/>
          <a:p>
            <a:r>
              <a:rPr lang="en-US" sz="2400" dirty="0">
                <a:solidFill>
                  <a:srgbClr val="002060"/>
                </a:solidFill>
                <a:latin typeface="Arial Rounded MT Bold" panose="020F0704030504030204" pitchFamily="34" charset="0"/>
              </a:rPr>
              <a:t>SUBMITTED TO</a:t>
            </a:r>
          </a:p>
          <a:p>
            <a:endParaRPr lang="en-SG" sz="2800" b="1" dirty="0">
              <a:latin typeface="Times New Roman" panose="02020603050405020304" pitchFamily="18" charset="0"/>
              <a:cs typeface="Times New Roman" panose="02020603050405020304" pitchFamily="18" charset="0"/>
            </a:endParaRPr>
          </a:p>
          <a:p>
            <a:pPr algn="just"/>
            <a:r>
              <a:rPr lang="en-SG" sz="2000" b="0" i="0" dirty="0" err="1">
                <a:solidFill>
                  <a:srgbClr val="000000"/>
                </a:solidFill>
                <a:effectLst/>
                <a:latin typeface="Times New Roman" panose="02020603050405020304" pitchFamily="18" charset="0"/>
                <a:cs typeface="Times New Roman" panose="02020603050405020304" pitchFamily="18" charset="0"/>
              </a:rPr>
              <a:t>Munira</a:t>
            </a:r>
            <a:r>
              <a:rPr lang="en-SG" sz="2000" b="0" i="0" dirty="0">
                <a:solidFill>
                  <a:srgbClr val="000000"/>
                </a:solidFill>
                <a:effectLst/>
                <a:latin typeface="Times New Roman" panose="02020603050405020304" pitchFamily="18" charset="0"/>
                <a:cs typeface="Times New Roman" panose="02020603050405020304" pitchFamily="18" charset="0"/>
              </a:rPr>
              <a:t> Akter Lata</a:t>
            </a:r>
          </a:p>
          <a:p>
            <a:pPr algn="just"/>
            <a:r>
              <a:rPr lang="en-SG" sz="2000" b="0" i="0" cap="all" dirty="0">
                <a:effectLst/>
                <a:latin typeface="Times New Roman" panose="02020603050405020304" pitchFamily="18" charset="0"/>
                <a:cs typeface="Times New Roman" panose="02020603050405020304" pitchFamily="18" charset="0"/>
              </a:rPr>
              <a:t>L</a:t>
            </a:r>
            <a:r>
              <a:rPr lang="en-SG" sz="2000" cap="all" dirty="0">
                <a:latin typeface="Times New Roman" panose="02020603050405020304" pitchFamily="18" charset="0"/>
                <a:cs typeface="Times New Roman" panose="02020603050405020304" pitchFamily="18" charset="0"/>
              </a:rPr>
              <a:t>ecturer</a:t>
            </a:r>
            <a:endParaRPr lang="en-SG" sz="2000" b="0" i="0" cap="all" dirty="0">
              <a:effectLst/>
              <a:latin typeface="Times New Roman" panose="02020603050405020304" pitchFamily="18" charset="0"/>
              <a:cs typeface="Times New Roman" panose="02020603050405020304" pitchFamily="18" charset="0"/>
            </a:endParaRPr>
          </a:p>
          <a:p>
            <a:pPr marL="0" indent="0" algn="just"/>
            <a:r>
              <a:rPr lang="en-US" sz="2000" dirty="0">
                <a:latin typeface="Times New Roman" panose="02020603050405020304" pitchFamily="18" charset="0"/>
                <a:cs typeface="Times New Roman" panose="02020603050405020304" pitchFamily="18" charset="0"/>
              </a:rPr>
              <a:t>Department of Educational Technology</a:t>
            </a:r>
          </a:p>
          <a:p>
            <a:pPr marL="0" indent="0" algn="just"/>
            <a:r>
              <a:rPr lang="en-US" sz="2000" i="0" dirty="0">
                <a:effectLst/>
                <a:latin typeface="Times New Roman" panose="02020603050405020304" pitchFamily="18" charset="0"/>
                <a:cs typeface="Times New Roman" panose="02020603050405020304" pitchFamily="18" charset="0"/>
              </a:rPr>
              <a:t>Bangabandhu Sheikh Mujibur Rahman Digital University, Bangladesh.</a:t>
            </a:r>
            <a:endParaRPr lang="en-US" sz="2000" dirty="0">
              <a:latin typeface="Times New Roman" panose="02020603050405020304" pitchFamily="18" charset="0"/>
              <a:cs typeface="Times New Roman" panose="02020603050405020304" pitchFamily="18" charset="0"/>
            </a:endParaRPr>
          </a:p>
          <a:p>
            <a:endParaRPr lang="en-US" sz="24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320B7FE-4F03-4C9B-990F-B24431B7D4B0}"/>
              </a:ext>
            </a:extLst>
          </p:cNvPr>
          <p:cNvSpPr txBox="1"/>
          <p:nvPr/>
        </p:nvSpPr>
        <p:spPr>
          <a:xfrm>
            <a:off x="8289303" y="2300140"/>
            <a:ext cx="3902697" cy="1384995"/>
          </a:xfrm>
          <a:prstGeom prst="rect">
            <a:avLst/>
          </a:prstGeom>
          <a:noFill/>
        </p:spPr>
        <p:txBody>
          <a:bodyPr wrap="square" rtlCol="0">
            <a:spAutoFit/>
          </a:bodyPr>
          <a:lstStyle/>
          <a:p>
            <a:r>
              <a:rPr lang="en-US" sz="2400" dirty="0">
                <a:solidFill>
                  <a:srgbClr val="002060"/>
                </a:solidFill>
                <a:latin typeface="Arial Rounded MT Bold" panose="020F0704030504030204" pitchFamily="34" charset="0"/>
              </a:rPr>
              <a:t>SUBMITTED BY</a:t>
            </a:r>
          </a:p>
          <a:p>
            <a:endParaRPr lang="en-US" sz="2000" dirty="0">
              <a:latin typeface="Arial" panose="020B0604020202020204" pitchFamily="34" charset="0"/>
              <a:cs typeface="Arial" panose="020B0604020202020204" pitchFamily="34" charset="0"/>
            </a:endParaRPr>
          </a:p>
          <a:p>
            <a:r>
              <a:rPr lang="en-US" sz="2000" dirty="0" err="1">
                <a:latin typeface="Arial" panose="020B0604020202020204" pitchFamily="34" charset="0"/>
                <a:cs typeface="Arial" panose="020B0604020202020204" pitchFamily="34" charset="0"/>
              </a:rPr>
              <a:t>Tarekul</a:t>
            </a:r>
            <a:r>
              <a:rPr lang="en-US" sz="2000" dirty="0">
                <a:latin typeface="Arial" panose="020B0604020202020204" pitchFamily="34" charset="0"/>
                <a:cs typeface="Arial" panose="020B0604020202020204" pitchFamily="34" charset="0"/>
              </a:rPr>
              <a:t> Islam; ID: 2002019</a:t>
            </a:r>
          </a:p>
          <a:p>
            <a:r>
              <a:rPr lang="en-US" sz="2000" dirty="0">
                <a:latin typeface="Arial" panose="020B0604020202020204" pitchFamily="34" charset="0"/>
                <a:cs typeface="Arial" panose="020B0604020202020204" pitchFamily="34" charset="0"/>
              </a:rPr>
              <a:t>Session: 2020-21</a:t>
            </a:r>
          </a:p>
        </p:txBody>
      </p:sp>
    </p:spTree>
    <p:extLst>
      <p:ext uri="{BB962C8B-B14F-4D97-AF65-F5344CB8AC3E}">
        <p14:creationId xmlns:p14="http://schemas.microsoft.com/office/powerpoint/2010/main" val="4133821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ravel Planner Dashboard | Prototion | Get Notion Template">
            <a:extLst>
              <a:ext uri="{FF2B5EF4-FFF2-40B4-BE49-F238E27FC236}">
                <a16:creationId xmlns:a16="http://schemas.microsoft.com/office/drawing/2014/main" id="{F930591C-9602-4EE8-B6A5-01AB39FD9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1594" y="2102177"/>
            <a:ext cx="5768811" cy="384587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3D71D31-9B72-45E1-A98F-F300309E9DBE}"/>
              </a:ext>
            </a:extLst>
          </p:cNvPr>
          <p:cNvSpPr txBox="1"/>
          <p:nvPr/>
        </p:nvSpPr>
        <p:spPr>
          <a:xfrm>
            <a:off x="526918" y="909949"/>
            <a:ext cx="9974542" cy="954107"/>
          </a:xfrm>
          <a:prstGeom prst="rect">
            <a:avLst/>
          </a:prstGeom>
          <a:noFill/>
        </p:spPr>
        <p:txBody>
          <a:bodyPr wrap="square">
            <a:spAutoFit/>
          </a:bodyPr>
          <a:lstStyle/>
          <a:p>
            <a:r>
              <a:rPr lang="en-AU"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Design a travel planner dashboard for a digital experience. </a:t>
            </a:r>
            <a:endParaRPr lang="en-US" sz="2800" dirty="0">
              <a:solidFill>
                <a:schemeClr val="accent6">
                  <a:lumMod val="50000"/>
                </a:schemeClr>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extLst>
      <p:ext uri="{BB962C8B-B14F-4D97-AF65-F5344CB8AC3E}">
        <p14:creationId xmlns:p14="http://schemas.microsoft.com/office/powerpoint/2010/main" val="2809911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ravel Planner Dashboard | Prototion | Get Notion Template">
            <a:extLst>
              <a:ext uri="{FF2B5EF4-FFF2-40B4-BE49-F238E27FC236}">
                <a16:creationId xmlns:a16="http://schemas.microsoft.com/office/drawing/2014/main" id="{00665899-53FA-433A-B6F1-4EFD3DA1B0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1673" y="435693"/>
            <a:ext cx="4139987" cy="275999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ravel Planner Dashboard | Prototion | Get Notion Template">
            <a:extLst>
              <a:ext uri="{FF2B5EF4-FFF2-40B4-BE49-F238E27FC236}">
                <a16:creationId xmlns:a16="http://schemas.microsoft.com/office/drawing/2014/main" id="{A7313366-D2EC-4D2B-B07F-5EEB408669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6646" y="435693"/>
            <a:ext cx="4139987" cy="275999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Travel Planner Dashboard | Prototion | Get Notion Template">
            <a:extLst>
              <a:ext uri="{FF2B5EF4-FFF2-40B4-BE49-F238E27FC236}">
                <a16:creationId xmlns:a16="http://schemas.microsoft.com/office/drawing/2014/main" id="{70858E44-39E7-4222-8B98-61DF115276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26006" y="3429000"/>
            <a:ext cx="4139988" cy="2759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19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46CA46-92C7-4BAB-A55E-1D28E4588B8D}"/>
              </a:ext>
            </a:extLst>
          </p:cNvPr>
          <p:cNvSpPr txBox="1"/>
          <p:nvPr/>
        </p:nvSpPr>
        <p:spPr>
          <a:xfrm>
            <a:off x="564625" y="466890"/>
            <a:ext cx="8315424" cy="523220"/>
          </a:xfrm>
          <a:prstGeom prst="rect">
            <a:avLst/>
          </a:prstGeom>
          <a:noFill/>
        </p:spPr>
        <p:txBody>
          <a:bodyPr wrap="square">
            <a:spAutoFit/>
          </a:bodyPr>
          <a:lstStyle/>
          <a:p>
            <a:r>
              <a:rPr lang="en-AU"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Download and install of Pencil project:</a:t>
            </a:r>
            <a:endParaRPr lang="en-US" sz="2800" dirty="0">
              <a:solidFill>
                <a:schemeClr val="accent6">
                  <a:lumMod val="50000"/>
                </a:schemeClr>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pic>
        <p:nvPicPr>
          <p:cNvPr id="3074" name="Picture 2">
            <a:extLst>
              <a:ext uri="{FF2B5EF4-FFF2-40B4-BE49-F238E27FC236}">
                <a16:creationId xmlns:a16="http://schemas.microsoft.com/office/drawing/2014/main" id="{4D0D6F1C-4C91-4BE8-9B97-D1AB79D4DE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042" y="1448173"/>
            <a:ext cx="2998411" cy="171687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8094CB11-2EDC-44F7-A5C8-0C6201FC68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2845" y="1448172"/>
            <a:ext cx="2336282" cy="171687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309D1464-4514-4378-A8F6-9595EF98CA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5519" y="1448172"/>
            <a:ext cx="3968439" cy="171687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42D59B24-CD40-46F3-88F1-2E96ACA56F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30532" y="3987847"/>
            <a:ext cx="2998411" cy="1652587"/>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A32CC293-F736-43E3-9835-44FD622947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76453" y="3954608"/>
            <a:ext cx="2998411" cy="1685826"/>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0D36E715-D003-41A6-9D8F-47B5A0EA5898}"/>
              </a:ext>
            </a:extLst>
          </p:cNvPr>
          <p:cNvSpPr/>
          <p:nvPr/>
        </p:nvSpPr>
        <p:spPr>
          <a:xfrm>
            <a:off x="3864990" y="2238866"/>
            <a:ext cx="320511" cy="21681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Arrow: Right 8">
            <a:extLst>
              <a:ext uri="{FF2B5EF4-FFF2-40B4-BE49-F238E27FC236}">
                <a16:creationId xmlns:a16="http://schemas.microsoft.com/office/drawing/2014/main" id="{86DA3BC5-3583-4DD7-AD4E-0246421BEE0C}"/>
              </a:ext>
            </a:extLst>
          </p:cNvPr>
          <p:cNvSpPr/>
          <p:nvPr/>
        </p:nvSpPr>
        <p:spPr>
          <a:xfrm>
            <a:off x="7036471" y="2238866"/>
            <a:ext cx="320511" cy="21681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Arrow: Down 4">
            <a:extLst>
              <a:ext uri="{FF2B5EF4-FFF2-40B4-BE49-F238E27FC236}">
                <a16:creationId xmlns:a16="http://schemas.microsoft.com/office/drawing/2014/main" id="{6CFD9A82-BD2F-496E-98C8-CB55DBFA4FCA}"/>
              </a:ext>
            </a:extLst>
          </p:cNvPr>
          <p:cNvSpPr/>
          <p:nvPr/>
        </p:nvSpPr>
        <p:spPr>
          <a:xfrm>
            <a:off x="9417378" y="3428682"/>
            <a:ext cx="282804" cy="388856"/>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Arrow: Left 5">
            <a:extLst>
              <a:ext uri="{FF2B5EF4-FFF2-40B4-BE49-F238E27FC236}">
                <a16:creationId xmlns:a16="http://schemas.microsoft.com/office/drawing/2014/main" id="{74118FC3-CDBD-4FFD-B1F4-92183982EFA5}"/>
              </a:ext>
            </a:extLst>
          </p:cNvPr>
          <p:cNvSpPr/>
          <p:nvPr/>
        </p:nvSpPr>
        <p:spPr>
          <a:xfrm>
            <a:off x="7142632" y="4668024"/>
            <a:ext cx="420132" cy="292231"/>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623924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8AFA72-E6B6-4D31-9EE5-03D988A55BFF}"/>
              </a:ext>
            </a:extLst>
          </p:cNvPr>
          <p:cNvSpPr txBox="1"/>
          <p:nvPr/>
        </p:nvSpPr>
        <p:spPr>
          <a:xfrm>
            <a:off x="622498" y="48236"/>
            <a:ext cx="10388249" cy="1384995"/>
          </a:xfrm>
          <a:prstGeom prst="rect">
            <a:avLst/>
          </a:prstGeom>
          <a:noFill/>
        </p:spPr>
        <p:txBody>
          <a:bodyPr wrap="square">
            <a:spAutoFit/>
          </a:bodyPr>
          <a:lstStyle/>
          <a:p>
            <a:r>
              <a:rPr lang="en-AU" sz="2800" dirty="0">
                <a:solidFill>
                  <a:schemeClr val="accent6">
                    <a:lumMod val="50000"/>
                  </a:schemeClr>
                </a:solidFill>
                <a:latin typeface="Cascadia Mono SemiBold" panose="020B0609020000020004" pitchFamily="49" charset="0"/>
                <a:ea typeface="Cascadia Mono SemiBold" panose="020B0609020000020004" pitchFamily="49" charset="0"/>
                <a:cs typeface="Cascadia Mono SemiBold" panose="020B0609020000020004" pitchFamily="49" charset="0"/>
              </a:rPr>
              <a:t>Create a personal website: </a:t>
            </a:r>
            <a:r>
              <a:rPr lang="en-AU" sz="2800" dirty="0">
                <a:solidFill>
                  <a:schemeClr val="accent6">
                    <a:lumMod val="50000"/>
                  </a:schemeClr>
                </a:solidFill>
                <a:latin typeface="Cascadia Mono SemiBold" panose="020B0609020000020004" pitchFamily="49" charset="0"/>
                <a:ea typeface="Cascadia Mono SemiBold" panose="020B0609020000020004" pitchFamily="49" charset="0"/>
                <a:cs typeface="Cascadia Mono SemiBold" panose="020B0609020000020004" pitchFamily="49" charset="0"/>
                <a:hlinkClick r:id="rId2"/>
              </a:rPr>
              <a:t>https://tarekportfolio2002019.000webhostapp.com/</a:t>
            </a:r>
            <a:endParaRPr lang="en-AU" sz="2800" dirty="0">
              <a:solidFill>
                <a:srgbClr val="0070C0"/>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a:p>
            <a:endParaRPr lang="en-US" sz="2800" dirty="0">
              <a:solidFill>
                <a:srgbClr val="0070C0"/>
              </a:solidFill>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
        <p:nvSpPr>
          <p:cNvPr id="13" name="Arrow: Right 12">
            <a:extLst>
              <a:ext uri="{FF2B5EF4-FFF2-40B4-BE49-F238E27FC236}">
                <a16:creationId xmlns:a16="http://schemas.microsoft.com/office/drawing/2014/main" id="{6B5EAD3B-508A-49D4-924C-7A9401B7678E}"/>
              </a:ext>
            </a:extLst>
          </p:cNvPr>
          <p:cNvSpPr/>
          <p:nvPr/>
        </p:nvSpPr>
        <p:spPr>
          <a:xfrm>
            <a:off x="2904406" y="2167753"/>
            <a:ext cx="707010" cy="38178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Arrow: Right 13">
            <a:extLst>
              <a:ext uri="{FF2B5EF4-FFF2-40B4-BE49-F238E27FC236}">
                <a16:creationId xmlns:a16="http://schemas.microsoft.com/office/drawing/2014/main" id="{9F1D1B9C-0764-4912-A339-665ABCC8AEFA}"/>
              </a:ext>
            </a:extLst>
          </p:cNvPr>
          <p:cNvSpPr/>
          <p:nvPr/>
        </p:nvSpPr>
        <p:spPr>
          <a:xfrm>
            <a:off x="7506384" y="2167753"/>
            <a:ext cx="707010" cy="38178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Arrow: Left 15">
            <a:extLst>
              <a:ext uri="{FF2B5EF4-FFF2-40B4-BE49-F238E27FC236}">
                <a16:creationId xmlns:a16="http://schemas.microsoft.com/office/drawing/2014/main" id="{F55F56FD-5E7F-443D-A36A-9157B0346C79}"/>
              </a:ext>
            </a:extLst>
          </p:cNvPr>
          <p:cNvSpPr/>
          <p:nvPr/>
        </p:nvSpPr>
        <p:spPr>
          <a:xfrm>
            <a:off x="7140985" y="4308100"/>
            <a:ext cx="718904" cy="413023"/>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Arrow: Left-Up 16">
            <a:extLst>
              <a:ext uri="{FF2B5EF4-FFF2-40B4-BE49-F238E27FC236}">
                <a16:creationId xmlns:a16="http://schemas.microsoft.com/office/drawing/2014/main" id="{4B44FD33-EAA5-4296-9592-D01B9717CA6A}"/>
              </a:ext>
            </a:extLst>
          </p:cNvPr>
          <p:cNvSpPr/>
          <p:nvPr/>
        </p:nvSpPr>
        <p:spPr>
          <a:xfrm>
            <a:off x="11190394" y="4025296"/>
            <a:ext cx="650450" cy="565608"/>
          </a:xfrm>
          <a:prstGeom prst="leftUp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8" name="Picture 17">
            <a:extLst>
              <a:ext uri="{FF2B5EF4-FFF2-40B4-BE49-F238E27FC236}">
                <a16:creationId xmlns:a16="http://schemas.microsoft.com/office/drawing/2014/main" id="{AEB69150-4CD3-F341-5412-E8D8AF55DE70}"/>
              </a:ext>
            </a:extLst>
          </p:cNvPr>
          <p:cNvPicPr>
            <a:picLocks noChangeAspect="1"/>
          </p:cNvPicPr>
          <p:nvPr/>
        </p:nvPicPr>
        <p:blipFill>
          <a:blip r:embed="rId3"/>
          <a:stretch>
            <a:fillRect/>
          </a:stretch>
        </p:blipFill>
        <p:spPr>
          <a:xfrm>
            <a:off x="3807283" y="990583"/>
            <a:ext cx="3560167" cy="2657974"/>
          </a:xfrm>
          <a:prstGeom prst="rect">
            <a:avLst/>
          </a:prstGeom>
        </p:spPr>
      </p:pic>
      <p:pic>
        <p:nvPicPr>
          <p:cNvPr id="21" name="Picture 20">
            <a:extLst>
              <a:ext uri="{FF2B5EF4-FFF2-40B4-BE49-F238E27FC236}">
                <a16:creationId xmlns:a16="http://schemas.microsoft.com/office/drawing/2014/main" id="{7AD19027-C2A1-9F89-8A7B-CBB445C893F2}"/>
              </a:ext>
            </a:extLst>
          </p:cNvPr>
          <p:cNvPicPr>
            <a:picLocks noChangeAspect="1"/>
          </p:cNvPicPr>
          <p:nvPr/>
        </p:nvPicPr>
        <p:blipFill>
          <a:blip r:embed="rId4"/>
          <a:stretch>
            <a:fillRect/>
          </a:stretch>
        </p:blipFill>
        <p:spPr>
          <a:xfrm>
            <a:off x="676381" y="990583"/>
            <a:ext cx="1919699" cy="5245375"/>
          </a:xfrm>
          <a:prstGeom prst="rect">
            <a:avLst/>
          </a:prstGeom>
        </p:spPr>
      </p:pic>
      <p:pic>
        <p:nvPicPr>
          <p:cNvPr id="23" name="Picture 22">
            <a:extLst>
              <a:ext uri="{FF2B5EF4-FFF2-40B4-BE49-F238E27FC236}">
                <a16:creationId xmlns:a16="http://schemas.microsoft.com/office/drawing/2014/main" id="{E25EE67C-F754-D22F-02B8-4C65A715CDBC}"/>
              </a:ext>
            </a:extLst>
          </p:cNvPr>
          <p:cNvPicPr>
            <a:picLocks noChangeAspect="1"/>
          </p:cNvPicPr>
          <p:nvPr/>
        </p:nvPicPr>
        <p:blipFill>
          <a:blip r:embed="rId5"/>
          <a:stretch>
            <a:fillRect/>
          </a:stretch>
        </p:blipFill>
        <p:spPr>
          <a:xfrm>
            <a:off x="8285156" y="1119095"/>
            <a:ext cx="3806797" cy="2400950"/>
          </a:xfrm>
          <a:prstGeom prst="rect">
            <a:avLst/>
          </a:prstGeom>
        </p:spPr>
      </p:pic>
      <p:pic>
        <p:nvPicPr>
          <p:cNvPr id="25" name="Picture 24">
            <a:extLst>
              <a:ext uri="{FF2B5EF4-FFF2-40B4-BE49-F238E27FC236}">
                <a16:creationId xmlns:a16="http://schemas.microsoft.com/office/drawing/2014/main" id="{5D192A8F-165D-7E5E-5E80-B3345E276217}"/>
              </a:ext>
            </a:extLst>
          </p:cNvPr>
          <p:cNvPicPr>
            <a:picLocks noChangeAspect="1"/>
          </p:cNvPicPr>
          <p:nvPr/>
        </p:nvPicPr>
        <p:blipFill>
          <a:blip r:embed="rId6"/>
          <a:stretch>
            <a:fillRect/>
          </a:stretch>
        </p:blipFill>
        <p:spPr>
          <a:xfrm>
            <a:off x="8047213" y="3764851"/>
            <a:ext cx="2893573" cy="2610506"/>
          </a:xfrm>
          <a:prstGeom prst="rect">
            <a:avLst/>
          </a:prstGeom>
        </p:spPr>
      </p:pic>
      <p:pic>
        <p:nvPicPr>
          <p:cNvPr id="27" name="Picture 26">
            <a:extLst>
              <a:ext uri="{FF2B5EF4-FFF2-40B4-BE49-F238E27FC236}">
                <a16:creationId xmlns:a16="http://schemas.microsoft.com/office/drawing/2014/main" id="{59E9E9A3-C050-84C4-6F44-C06D874C2517}"/>
              </a:ext>
            </a:extLst>
          </p:cNvPr>
          <p:cNvPicPr>
            <a:picLocks noChangeAspect="1"/>
          </p:cNvPicPr>
          <p:nvPr/>
        </p:nvPicPr>
        <p:blipFill>
          <a:blip r:embed="rId7"/>
          <a:stretch>
            <a:fillRect/>
          </a:stretch>
        </p:blipFill>
        <p:spPr>
          <a:xfrm>
            <a:off x="3177877" y="3764851"/>
            <a:ext cx="3788033" cy="2385515"/>
          </a:xfrm>
          <a:prstGeom prst="rect">
            <a:avLst/>
          </a:prstGeom>
        </p:spPr>
      </p:pic>
    </p:spTree>
    <p:extLst>
      <p:ext uri="{BB962C8B-B14F-4D97-AF65-F5344CB8AC3E}">
        <p14:creationId xmlns:p14="http://schemas.microsoft.com/office/powerpoint/2010/main" val="208955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EBDAFB-58C5-44A1-9DE7-475248814D9D}"/>
              </a:ext>
            </a:extLst>
          </p:cNvPr>
          <p:cNvSpPr txBox="1"/>
          <p:nvPr/>
        </p:nvSpPr>
        <p:spPr>
          <a:xfrm>
            <a:off x="426564" y="298282"/>
            <a:ext cx="6539844" cy="1046440"/>
          </a:xfrm>
          <a:prstGeom prst="rect">
            <a:avLst/>
          </a:prstGeom>
          <a:noFill/>
        </p:spPr>
        <p:txBody>
          <a:bodyPr wrap="square">
            <a:spAutoFit/>
          </a:bodyPr>
          <a:lstStyle/>
          <a:p>
            <a:pPr marL="0" marR="0">
              <a:lnSpc>
                <a:spcPct val="115000"/>
              </a:lnSpc>
              <a:spcBef>
                <a:spcPts val="0"/>
              </a:spcBef>
              <a:spcAft>
                <a:spcPts val="0"/>
              </a:spcAft>
            </a:pPr>
            <a:r>
              <a:rPr lang="en-GB"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Write an MCQ quiz system of 5 questions:</a:t>
            </a:r>
            <a:endPar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pic>
        <p:nvPicPr>
          <p:cNvPr id="7" name="Picture 6">
            <a:extLst>
              <a:ext uri="{FF2B5EF4-FFF2-40B4-BE49-F238E27FC236}">
                <a16:creationId xmlns:a16="http://schemas.microsoft.com/office/drawing/2014/main" id="{D6F3EB95-F70C-4A15-AEF0-5E620E251261}"/>
              </a:ext>
            </a:extLst>
          </p:cNvPr>
          <p:cNvPicPr>
            <a:picLocks noChangeAspect="1"/>
          </p:cNvPicPr>
          <p:nvPr/>
        </p:nvPicPr>
        <p:blipFill>
          <a:blip r:embed="rId2"/>
          <a:stretch>
            <a:fillRect/>
          </a:stretch>
        </p:blipFill>
        <p:spPr>
          <a:xfrm>
            <a:off x="426564" y="1344722"/>
            <a:ext cx="2933954" cy="2004234"/>
          </a:xfrm>
          <a:prstGeom prst="rect">
            <a:avLst/>
          </a:prstGeom>
        </p:spPr>
      </p:pic>
      <p:pic>
        <p:nvPicPr>
          <p:cNvPr id="9" name="Picture 8">
            <a:extLst>
              <a:ext uri="{FF2B5EF4-FFF2-40B4-BE49-F238E27FC236}">
                <a16:creationId xmlns:a16="http://schemas.microsoft.com/office/drawing/2014/main" id="{6825CED5-2739-4224-9F5D-FDE6F94B0643}"/>
              </a:ext>
            </a:extLst>
          </p:cNvPr>
          <p:cNvPicPr>
            <a:picLocks noChangeAspect="1"/>
          </p:cNvPicPr>
          <p:nvPr/>
        </p:nvPicPr>
        <p:blipFill>
          <a:blip r:embed="rId3"/>
          <a:stretch>
            <a:fillRect/>
          </a:stretch>
        </p:blipFill>
        <p:spPr>
          <a:xfrm>
            <a:off x="4476190" y="1301265"/>
            <a:ext cx="2659901" cy="2047692"/>
          </a:xfrm>
          <a:prstGeom prst="rect">
            <a:avLst/>
          </a:prstGeom>
        </p:spPr>
      </p:pic>
      <p:pic>
        <p:nvPicPr>
          <p:cNvPr id="11" name="Picture 10">
            <a:extLst>
              <a:ext uri="{FF2B5EF4-FFF2-40B4-BE49-F238E27FC236}">
                <a16:creationId xmlns:a16="http://schemas.microsoft.com/office/drawing/2014/main" id="{17E98030-CABE-4400-9EC5-A388C94BA285}"/>
              </a:ext>
            </a:extLst>
          </p:cNvPr>
          <p:cNvPicPr>
            <a:picLocks noChangeAspect="1"/>
          </p:cNvPicPr>
          <p:nvPr/>
        </p:nvPicPr>
        <p:blipFill>
          <a:blip r:embed="rId4"/>
          <a:stretch>
            <a:fillRect/>
          </a:stretch>
        </p:blipFill>
        <p:spPr>
          <a:xfrm>
            <a:off x="8251763" y="1301265"/>
            <a:ext cx="3002540" cy="2047691"/>
          </a:xfrm>
          <a:prstGeom prst="rect">
            <a:avLst/>
          </a:prstGeom>
        </p:spPr>
      </p:pic>
      <p:pic>
        <p:nvPicPr>
          <p:cNvPr id="13" name="Picture 12">
            <a:extLst>
              <a:ext uri="{FF2B5EF4-FFF2-40B4-BE49-F238E27FC236}">
                <a16:creationId xmlns:a16="http://schemas.microsoft.com/office/drawing/2014/main" id="{24ADB468-B4BA-4A62-8948-EC92DEE41394}"/>
              </a:ext>
            </a:extLst>
          </p:cNvPr>
          <p:cNvPicPr>
            <a:picLocks noChangeAspect="1"/>
          </p:cNvPicPr>
          <p:nvPr/>
        </p:nvPicPr>
        <p:blipFill>
          <a:blip r:embed="rId5"/>
          <a:stretch>
            <a:fillRect/>
          </a:stretch>
        </p:blipFill>
        <p:spPr>
          <a:xfrm>
            <a:off x="8371002" y="3946519"/>
            <a:ext cx="2883301" cy="2322305"/>
          </a:xfrm>
          <a:prstGeom prst="rect">
            <a:avLst/>
          </a:prstGeom>
        </p:spPr>
      </p:pic>
      <p:pic>
        <p:nvPicPr>
          <p:cNvPr id="15" name="Picture 14">
            <a:extLst>
              <a:ext uri="{FF2B5EF4-FFF2-40B4-BE49-F238E27FC236}">
                <a16:creationId xmlns:a16="http://schemas.microsoft.com/office/drawing/2014/main" id="{EDD8EF67-56DA-4889-94D5-A53DE83FC5B5}"/>
              </a:ext>
            </a:extLst>
          </p:cNvPr>
          <p:cNvPicPr>
            <a:picLocks noChangeAspect="1"/>
          </p:cNvPicPr>
          <p:nvPr/>
        </p:nvPicPr>
        <p:blipFill>
          <a:blip r:embed="rId6"/>
          <a:stretch>
            <a:fillRect/>
          </a:stretch>
        </p:blipFill>
        <p:spPr>
          <a:xfrm>
            <a:off x="4301059" y="3946519"/>
            <a:ext cx="3010161" cy="2202371"/>
          </a:xfrm>
          <a:prstGeom prst="rect">
            <a:avLst/>
          </a:prstGeom>
        </p:spPr>
      </p:pic>
      <p:sp>
        <p:nvSpPr>
          <p:cNvPr id="16" name="Arrow: Right 15">
            <a:extLst>
              <a:ext uri="{FF2B5EF4-FFF2-40B4-BE49-F238E27FC236}">
                <a16:creationId xmlns:a16="http://schemas.microsoft.com/office/drawing/2014/main" id="{E553AADA-B430-452A-B35A-BBEEB7B502DE}"/>
              </a:ext>
            </a:extLst>
          </p:cNvPr>
          <p:cNvSpPr/>
          <p:nvPr/>
        </p:nvSpPr>
        <p:spPr>
          <a:xfrm>
            <a:off x="3564849" y="2155946"/>
            <a:ext cx="707010" cy="38178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Arrow: Right 16">
            <a:extLst>
              <a:ext uri="{FF2B5EF4-FFF2-40B4-BE49-F238E27FC236}">
                <a16:creationId xmlns:a16="http://schemas.microsoft.com/office/drawing/2014/main" id="{71459222-7BB8-437F-A433-F5CB36859D51}"/>
              </a:ext>
            </a:extLst>
          </p:cNvPr>
          <p:cNvSpPr/>
          <p:nvPr/>
        </p:nvSpPr>
        <p:spPr>
          <a:xfrm>
            <a:off x="7340422" y="2155946"/>
            <a:ext cx="707010" cy="38178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Arrow: Down 17">
            <a:extLst>
              <a:ext uri="{FF2B5EF4-FFF2-40B4-BE49-F238E27FC236}">
                <a16:creationId xmlns:a16="http://schemas.microsoft.com/office/drawing/2014/main" id="{06F8DE3A-AFF9-4E89-9F37-7F1C38677726}"/>
              </a:ext>
            </a:extLst>
          </p:cNvPr>
          <p:cNvSpPr/>
          <p:nvPr/>
        </p:nvSpPr>
        <p:spPr>
          <a:xfrm>
            <a:off x="9611631" y="3453309"/>
            <a:ext cx="282804" cy="388856"/>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Arrow: Left 18">
            <a:extLst>
              <a:ext uri="{FF2B5EF4-FFF2-40B4-BE49-F238E27FC236}">
                <a16:creationId xmlns:a16="http://schemas.microsoft.com/office/drawing/2014/main" id="{C69E2F11-A3CA-4DB0-8813-86BC06A29F9C}"/>
              </a:ext>
            </a:extLst>
          </p:cNvPr>
          <p:cNvSpPr/>
          <p:nvPr/>
        </p:nvSpPr>
        <p:spPr>
          <a:xfrm>
            <a:off x="7481659" y="4841192"/>
            <a:ext cx="718904" cy="413023"/>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142866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957D39-292D-4C48-B4FA-79F59F65F96D}"/>
              </a:ext>
            </a:extLst>
          </p:cNvPr>
          <p:cNvPicPr>
            <a:picLocks noChangeAspect="1"/>
          </p:cNvPicPr>
          <p:nvPr/>
        </p:nvPicPr>
        <p:blipFill>
          <a:blip r:embed="rId2"/>
          <a:stretch>
            <a:fillRect/>
          </a:stretch>
        </p:blipFill>
        <p:spPr>
          <a:xfrm>
            <a:off x="900444" y="1935191"/>
            <a:ext cx="4039201" cy="2179520"/>
          </a:xfrm>
          <a:prstGeom prst="rect">
            <a:avLst/>
          </a:prstGeom>
        </p:spPr>
      </p:pic>
      <p:sp>
        <p:nvSpPr>
          <p:cNvPr id="5" name="TextBox 4">
            <a:extLst>
              <a:ext uri="{FF2B5EF4-FFF2-40B4-BE49-F238E27FC236}">
                <a16:creationId xmlns:a16="http://schemas.microsoft.com/office/drawing/2014/main" id="{4A47DF5E-1DB1-421C-819F-2C52A5DDCAAC}"/>
              </a:ext>
            </a:extLst>
          </p:cNvPr>
          <p:cNvSpPr txBox="1"/>
          <p:nvPr/>
        </p:nvSpPr>
        <p:spPr>
          <a:xfrm>
            <a:off x="757195" y="1155051"/>
            <a:ext cx="5106277" cy="706475"/>
          </a:xfrm>
          <a:prstGeom prst="rect">
            <a:avLst/>
          </a:prstGeom>
          <a:noFill/>
        </p:spPr>
        <p:txBody>
          <a:bodyPr wrap="square">
            <a:spAutoFit/>
          </a:bodyPr>
          <a:lstStyle/>
          <a:p>
            <a:pPr marL="0" marR="0">
              <a:lnSpc>
                <a:spcPct val="115000"/>
              </a:lnSpc>
              <a:spcBef>
                <a:spcPts val="1500"/>
              </a:spcBef>
              <a:spcAft>
                <a:spcPts val="1500"/>
              </a:spcAft>
            </a:pPr>
            <a:r>
              <a:rPr lang="en-GB" sz="1800" dirty="0">
                <a:effectLst/>
                <a:latin typeface="Arial" panose="020B0604020202020204" pitchFamily="34" charset="0"/>
                <a:ea typeface="Roboto" panose="02000000000000000000" pitchFamily="2" charset="0"/>
                <a:cs typeface="Arial" panose="020B0604020202020204" pitchFamily="34" charset="0"/>
              </a:rPr>
              <a:t>Question 1: Design a Bootstrap card with an image at the top, a title, and a paragraph of text.</a:t>
            </a:r>
            <a:endParaRPr lang="en-US" sz="1600" dirty="0">
              <a:effectLst/>
              <a:latin typeface="Arial" panose="020B0604020202020204" pitchFamily="34" charset="0"/>
              <a:ea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3920A3D-5AED-420C-A02E-4458A2FA6667}"/>
              </a:ext>
            </a:extLst>
          </p:cNvPr>
          <p:cNvSpPr txBox="1"/>
          <p:nvPr/>
        </p:nvSpPr>
        <p:spPr>
          <a:xfrm>
            <a:off x="757195" y="393409"/>
            <a:ext cx="2356099"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Bootstrap</a:t>
            </a:r>
          </a:p>
        </p:txBody>
      </p:sp>
      <p:sp>
        <p:nvSpPr>
          <p:cNvPr id="8" name="TextBox 7">
            <a:extLst>
              <a:ext uri="{FF2B5EF4-FFF2-40B4-BE49-F238E27FC236}">
                <a16:creationId xmlns:a16="http://schemas.microsoft.com/office/drawing/2014/main" id="{67A87BF9-4730-48A9-95B5-7B8DB8BD1D2F}"/>
              </a:ext>
            </a:extLst>
          </p:cNvPr>
          <p:cNvSpPr txBox="1"/>
          <p:nvPr/>
        </p:nvSpPr>
        <p:spPr>
          <a:xfrm>
            <a:off x="6780923" y="1155051"/>
            <a:ext cx="5558670" cy="706475"/>
          </a:xfrm>
          <a:prstGeom prst="rect">
            <a:avLst/>
          </a:prstGeom>
          <a:noFill/>
        </p:spPr>
        <p:txBody>
          <a:bodyPr wrap="square">
            <a:spAutoFit/>
          </a:bodyPr>
          <a:lstStyle/>
          <a:p>
            <a:pPr marL="0" marR="0">
              <a:lnSpc>
                <a:spcPct val="115000"/>
              </a:lnSpc>
              <a:spcBef>
                <a:spcPts val="1500"/>
              </a:spcBef>
              <a:spcAft>
                <a:spcPts val="1500"/>
              </a:spcAft>
            </a:pPr>
            <a:r>
              <a:rPr lang="en-GB" sz="1800" dirty="0">
                <a:effectLst/>
                <a:latin typeface="Roboto" panose="02000000000000000000" pitchFamily="2" charset="0"/>
                <a:ea typeface="Roboto" panose="02000000000000000000" pitchFamily="2" charset="0"/>
                <a:cs typeface="Roboto" panose="02000000000000000000" pitchFamily="2" charset="0"/>
              </a:rPr>
              <a:t>Question-2: Construct a Bootstrap form with fields for "Name", "Email", and a "Submit" button.</a:t>
            </a:r>
            <a:endParaRPr lang="en-US" sz="1600" dirty="0">
              <a:effectLst/>
              <a:latin typeface="Arial" panose="020B0604020202020204" pitchFamily="34" charset="0"/>
              <a:ea typeface="Arial" panose="020B0604020202020204" pitchFamily="34" charset="0"/>
            </a:endParaRPr>
          </a:p>
        </p:txBody>
      </p:sp>
      <p:pic>
        <p:nvPicPr>
          <p:cNvPr id="10" name="Picture 9">
            <a:extLst>
              <a:ext uri="{FF2B5EF4-FFF2-40B4-BE49-F238E27FC236}">
                <a16:creationId xmlns:a16="http://schemas.microsoft.com/office/drawing/2014/main" id="{F00A6881-47B5-4796-857A-6887C41D9E64}"/>
              </a:ext>
            </a:extLst>
          </p:cNvPr>
          <p:cNvPicPr>
            <a:picLocks noChangeAspect="1"/>
          </p:cNvPicPr>
          <p:nvPr/>
        </p:nvPicPr>
        <p:blipFill>
          <a:blip r:embed="rId3"/>
          <a:stretch>
            <a:fillRect/>
          </a:stretch>
        </p:blipFill>
        <p:spPr>
          <a:xfrm>
            <a:off x="7182166" y="2041707"/>
            <a:ext cx="4479301" cy="1724212"/>
          </a:xfrm>
          <a:prstGeom prst="rect">
            <a:avLst/>
          </a:prstGeom>
        </p:spPr>
      </p:pic>
      <p:sp>
        <p:nvSpPr>
          <p:cNvPr id="12" name="TextBox 11">
            <a:extLst>
              <a:ext uri="{FF2B5EF4-FFF2-40B4-BE49-F238E27FC236}">
                <a16:creationId xmlns:a16="http://schemas.microsoft.com/office/drawing/2014/main" id="{63B81293-5F14-4A56-B2EE-DD688678C830}"/>
              </a:ext>
            </a:extLst>
          </p:cNvPr>
          <p:cNvSpPr txBox="1"/>
          <p:nvPr/>
        </p:nvSpPr>
        <p:spPr>
          <a:xfrm>
            <a:off x="2627722" y="4295161"/>
            <a:ext cx="7223288" cy="646331"/>
          </a:xfrm>
          <a:prstGeom prst="rect">
            <a:avLst/>
          </a:prstGeom>
          <a:noFill/>
        </p:spPr>
        <p:txBody>
          <a:bodyPr wrap="square">
            <a:spAutoFit/>
          </a:bodyPr>
          <a:lstStyle/>
          <a:p>
            <a:r>
              <a:rPr lang="en-GB" sz="1800" dirty="0">
                <a:effectLst/>
                <a:latin typeface="Roboto" panose="02000000000000000000" pitchFamily="2" charset="0"/>
                <a:ea typeface="Roboto" panose="02000000000000000000" pitchFamily="2" charset="0"/>
                <a:cs typeface="Roboto" panose="02000000000000000000" pitchFamily="2" charset="0"/>
              </a:rPr>
              <a:t>Question-3: Design a Bootstrap alert that shows a success message with a green background.</a:t>
            </a:r>
            <a:endParaRPr lang="en-US" dirty="0"/>
          </a:p>
        </p:txBody>
      </p:sp>
      <p:pic>
        <p:nvPicPr>
          <p:cNvPr id="14" name="Picture 13">
            <a:extLst>
              <a:ext uri="{FF2B5EF4-FFF2-40B4-BE49-F238E27FC236}">
                <a16:creationId xmlns:a16="http://schemas.microsoft.com/office/drawing/2014/main" id="{E36F8870-57D0-4E8C-B479-7E1BEF778572}"/>
              </a:ext>
            </a:extLst>
          </p:cNvPr>
          <p:cNvPicPr>
            <a:picLocks noChangeAspect="1"/>
          </p:cNvPicPr>
          <p:nvPr/>
        </p:nvPicPr>
        <p:blipFill>
          <a:blip r:embed="rId4"/>
          <a:stretch>
            <a:fillRect/>
          </a:stretch>
        </p:blipFill>
        <p:spPr>
          <a:xfrm>
            <a:off x="3310333" y="5184959"/>
            <a:ext cx="5921253" cy="571550"/>
          </a:xfrm>
          <a:prstGeom prst="rect">
            <a:avLst/>
          </a:prstGeom>
        </p:spPr>
      </p:pic>
      <p:sp>
        <p:nvSpPr>
          <p:cNvPr id="15" name="TextBox 14">
            <a:extLst>
              <a:ext uri="{FF2B5EF4-FFF2-40B4-BE49-F238E27FC236}">
                <a16:creationId xmlns:a16="http://schemas.microsoft.com/office/drawing/2014/main" id="{71FA3C5B-6DB6-434D-92C3-9630246E518C}"/>
              </a:ext>
            </a:extLst>
          </p:cNvPr>
          <p:cNvSpPr txBox="1"/>
          <p:nvPr/>
        </p:nvSpPr>
        <p:spPr>
          <a:xfrm>
            <a:off x="757195" y="365129"/>
            <a:ext cx="2356099"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Bootstrap</a:t>
            </a:r>
          </a:p>
        </p:txBody>
      </p:sp>
    </p:spTree>
    <p:extLst>
      <p:ext uri="{BB962C8B-B14F-4D97-AF65-F5344CB8AC3E}">
        <p14:creationId xmlns:p14="http://schemas.microsoft.com/office/powerpoint/2010/main" val="751356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6921BF-499B-40AB-AB48-BE507D828E80}"/>
              </a:ext>
            </a:extLst>
          </p:cNvPr>
          <p:cNvSpPr txBox="1"/>
          <p:nvPr/>
        </p:nvSpPr>
        <p:spPr>
          <a:xfrm>
            <a:off x="757195" y="393409"/>
            <a:ext cx="2356099"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latin typeface="Cascadia Mono SemiBold" panose="020B0609020000020004" pitchFamily="49" charset="0"/>
                <a:ea typeface="Cascadia Mono SemiBold" panose="020B0609020000020004" pitchFamily="49" charset="0"/>
                <a:cs typeface="Cascadia Mono SemiBold" panose="020B0609020000020004" pitchFamily="49" charset="0"/>
              </a:rPr>
              <a:t>jQuery</a:t>
            </a:r>
            <a:endPar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pic>
        <p:nvPicPr>
          <p:cNvPr id="4" name="Picture 3">
            <a:extLst>
              <a:ext uri="{FF2B5EF4-FFF2-40B4-BE49-F238E27FC236}">
                <a16:creationId xmlns:a16="http://schemas.microsoft.com/office/drawing/2014/main" id="{AD2841AF-D21C-4460-BBB0-DC71A422AEAE}"/>
              </a:ext>
            </a:extLst>
          </p:cNvPr>
          <p:cNvPicPr>
            <a:picLocks noChangeAspect="1"/>
          </p:cNvPicPr>
          <p:nvPr/>
        </p:nvPicPr>
        <p:blipFill>
          <a:blip r:embed="rId2"/>
          <a:stretch>
            <a:fillRect/>
          </a:stretch>
        </p:blipFill>
        <p:spPr>
          <a:xfrm>
            <a:off x="474391" y="1140678"/>
            <a:ext cx="3324611" cy="2355724"/>
          </a:xfrm>
          <a:prstGeom prst="rect">
            <a:avLst/>
          </a:prstGeom>
        </p:spPr>
      </p:pic>
      <p:pic>
        <p:nvPicPr>
          <p:cNvPr id="6" name="Picture 5">
            <a:extLst>
              <a:ext uri="{FF2B5EF4-FFF2-40B4-BE49-F238E27FC236}">
                <a16:creationId xmlns:a16="http://schemas.microsoft.com/office/drawing/2014/main" id="{0979A93D-4D13-4527-8DB2-793BE61CC426}"/>
              </a:ext>
            </a:extLst>
          </p:cNvPr>
          <p:cNvPicPr>
            <a:picLocks noChangeAspect="1"/>
          </p:cNvPicPr>
          <p:nvPr/>
        </p:nvPicPr>
        <p:blipFill>
          <a:blip r:embed="rId3"/>
          <a:stretch>
            <a:fillRect/>
          </a:stretch>
        </p:blipFill>
        <p:spPr>
          <a:xfrm>
            <a:off x="4538026" y="1140678"/>
            <a:ext cx="3281414" cy="2355724"/>
          </a:xfrm>
          <a:prstGeom prst="rect">
            <a:avLst/>
          </a:prstGeom>
        </p:spPr>
      </p:pic>
      <p:pic>
        <p:nvPicPr>
          <p:cNvPr id="8" name="Picture 7">
            <a:extLst>
              <a:ext uri="{FF2B5EF4-FFF2-40B4-BE49-F238E27FC236}">
                <a16:creationId xmlns:a16="http://schemas.microsoft.com/office/drawing/2014/main" id="{4FE6A41F-A23C-44D2-84CD-1FF33AB984CB}"/>
              </a:ext>
            </a:extLst>
          </p:cNvPr>
          <p:cNvPicPr>
            <a:picLocks noChangeAspect="1"/>
          </p:cNvPicPr>
          <p:nvPr/>
        </p:nvPicPr>
        <p:blipFill>
          <a:blip r:embed="rId4"/>
          <a:stretch>
            <a:fillRect/>
          </a:stretch>
        </p:blipFill>
        <p:spPr>
          <a:xfrm>
            <a:off x="8558464" y="1125438"/>
            <a:ext cx="3281414" cy="2370964"/>
          </a:xfrm>
          <a:prstGeom prst="rect">
            <a:avLst/>
          </a:prstGeom>
        </p:spPr>
      </p:pic>
      <p:pic>
        <p:nvPicPr>
          <p:cNvPr id="10" name="Picture 9">
            <a:extLst>
              <a:ext uri="{FF2B5EF4-FFF2-40B4-BE49-F238E27FC236}">
                <a16:creationId xmlns:a16="http://schemas.microsoft.com/office/drawing/2014/main" id="{20DC3EC5-9E9A-49E7-A67E-17E29673AD2C}"/>
              </a:ext>
            </a:extLst>
          </p:cNvPr>
          <p:cNvPicPr>
            <a:picLocks noChangeAspect="1"/>
          </p:cNvPicPr>
          <p:nvPr/>
        </p:nvPicPr>
        <p:blipFill>
          <a:blip r:embed="rId5"/>
          <a:stretch>
            <a:fillRect/>
          </a:stretch>
        </p:blipFill>
        <p:spPr>
          <a:xfrm>
            <a:off x="8657351" y="3883879"/>
            <a:ext cx="3182527" cy="2427970"/>
          </a:xfrm>
          <a:prstGeom prst="rect">
            <a:avLst/>
          </a:prstGeom>
        </p:spPr>
      </p:pic>
      <p:sp>
        <p:nvSpPr>
          <p:cNvPr id="11" name="Arrow: Right 10">
            <a:extLst>
              <a:ext uri="{FF2B5EF4-FFF2-40B4-BE49-F238E27FC236}">
                <a16:creationId xmlns:a16="http://schemas.microsoft.com/office/drawing/2014/main" id="{651BC363-C37A-4601-9F83-274C31394461}"/>
              </a:ext>
            </a:extLst>
          </p:cNvPr>
          <p:cNvSpPr/>
          <p:nvPr/>
        </p:nvSpPr>
        <p:spPr>
          <a:xfrm>
            <a:off x="4008258" y="2310920"/>
            <a:ext cx="320511" cy="21681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Arrow: Right 11">
            <a:extLst>
              <a:ext uri="{FF2B5EF4-FFF2-40B4-BE49-F238E27FC236}">
                <a16:creationId xmlns:a16="http://schemas.microsoft.com/office/drawing/2014/main" id="{554B697B-373E-4883-BDAA-3C4A3A293A7A}"/>
              </a:ext>
            </a:extLst>
          </p:cNvPr>
          <p:cNvSpPr/>
          <p:nvPr/>
        </p:nvSpPr>
        <p:spPr>
          <a:xfrm>
            <a:off x="8028696" y="2318540"/>
            <a:ext cx="320511" cy="216816"/>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Arrow: Down 12">
            <a:extLst>
              <a:ext uri="{FF2B5EF4-FFF2-40B4-BE49-F238E27FC236}">
                <a16:creationId xmlns:a16="http://schemas.microsoft.com/office/drawing/2014/main" id="{DD7A65E8-75F0-4B3C-9DDD-AD244B139D65}"/>
              </a:ext>
            </a:extLst>
          </p:cNvPr>
          <p:cNvSpPr/>
          <p:nvPr/>
        </p:nvSpPr>
        <p:spPr>
          <a:xfrm>
            <a:off x="10199171" y="3582186"/>
            <a:ext cx="245728" cy="301693"/>
          </a:xfrm>
          <a:prstGeom prst="down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220EDF9E-0000-475A-8F9F-6652BF4D91D1}"/>
              </a:ext>
            </a:extLst>
          </p:cNvPr>
          <p:cNvSpPr txBox="1"/>
          <p:nvPr/>
        </p:nvSpPr>
        <p:spPr>
          <a:xfrm>
            <a:off x="961044" y="4384789"/>
            <a:ext cx="6094428" cy="770147"/>
          </a:xfrm>
          <a:prstGeom prst="rect">
            <a:avLst/>
          </a:prstGeom>
          <a:noFill/>
        </p:spPr>
        <p:txBody>
          <a:bodyPr wrap="square">
            <a:spAutoFit/>
          </a:bodyPr>
          <a:lstStyle/>
          <a:p>
            <a:pPr marL="0" marR="0">
              <a:lnSpc>
                <a:spcPct val="115000"/>
              </a:lnSpc>
              <a:spcBef>
                <a:spcPts val="0"/>
              </a:spcBef>
              <a:spcAft>
                <a:spcPts val="0"/>
              </a:spcAft>
            </a:pPr>
            <a:r>
              <a:rPr lang="en-GB" sz="2000" dirty="0">
                <a:effectLst/>
                <a:latin typeface="Arial" panose="020B0604020202020204" pitchFamily="34" charset="0"/>
                <a:ea typeface="Arial" panose="020B0604020202020204" pitchFamily="34" charset="0"/>
                <a:cs typeface="Arial" panose="020B0604020202020204" pitchFamily="34" charset="0"/>
              </a:rPr>
              <a:t>Can you make a UI for MCQ tests (5 questions in 5 separate pages) using jQuery Mobile?</a:t>
            </a:r>
            <a:endParaRPr lang="en-US" sz="2000" dirty="0">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2048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35C5E1-18FB-45E2-9052-F09DFC3A63F6}"/>
              </a:ext>
            </a:extLst>
          </p:cNvPr>
          <p:cNvPicPr>
            <a:picLocks noChangeAspect="1"/>
          </p:cNvPicPr>
          <p:nvPr/>
        </p:nvPicPr>
        <p:blipFill>
          <a:blip r:embed="rId2"/>
          <a:stretch>
            <a:fillRect/>
          </a:stretch>
        </p:blipFill>
        <p:spPr>
          <a:xfrm>
            <a:off x="417088" y="1871043"/>
            <a:ext cx="4282810" cy="2776372"/>
          </a:xfrm>
          <a:prstGeom prst="rect">
            <a:avLst/>
          </a:prstGeom>
        </p:spPr>
      </p:pic>
      <p:sp>
        <p:nvSpPr>
          <p:cNvPr id="4" name="TextBox 3">
            <a:extLst>
              <a:ext uri="{FF2B5EF4-FFF2-40B4-BE49-F238E27FC236}">
                <a16:creationId xmlns:a16="http://schemas.microsoft.com/office/drawing/2014/main" id="{8C96CB19-A9DA-496F-8426-B89DBBFE39A5}"/>
              </a:ext>
            </a:extLst>
          </p:cNvPr>
          <p:cNvSpPr txBox="1"/>
          <p:nvPr/>
        </p:nvSpPr>
        <p:spPr>
          <a:xfrm>
            <a:off x="408404" y="355703"/>
            <a:ext cx="4540669"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latin typeface="Cascadia Mono SemiBold" panose="020B0609020000020004" pitchFamily="49" charset="0"/>
                <a:ea typeface="Cascadia Mono SemiBold" panose="020B0609020000020004" pitchFamily="49" charset="0"/>
                <a:cs typeface="Cascadia Mono SemiBold" panose="020B0609020000020004" pitchFamily="49" charset="0"/>
              </a:rPr>
              <a:t>XAMPP</a:t>
            </a:r>
            <a:endPar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pic>
        <p:nvPicPr>
          <p:cNvPr id="6" name="Picture 5">
            <a:extLst>
              <a:ext uri="{FF2B5EF4-FFF2-40B4-BE49-F238E27FC236}">
                <a16:creationId xmlns:a16="http://schemas.microsoft.com/office/drawing/2014/main" id="{1E6CAEB9-A853-4BAB-A262-86BF317A465F}"/>
              </a:ext>
            </a:extLst>
          </p:cNvPr>
          <p:cNvPicPr>
            <a:picLocks noChangeAspect="1"/>
          </p:cNvPicPr>
          <p:nvPr/>
        </p:nvPicPr>
        <p:blipFill>
          <a:blip r:embed="rId3"/>
          <a:stretch>
            <a:fillRect/>
          </a:stretch>
        </p:blipFill>
        <p:spPr>
          <a:xfrm>
            <a:off x="7422724" y="2028492"/>
            <a:ext cx="2286198" cy="2461473"/>
          </a:xfrm>
          <a:prstGeom prst="rect">
            <a:avLst/>
          </a:prstGeom>
        </p:spPr>
      </p:pic>
      <p:sp>
        <p:nvSpPr>
          <p:cNvPr id="7" name="TextBox 6">
            <a:extLst>
              <a:ext uri="{FF2B5EF4-FFF2-40B4-BE49-F238E27FC236}">
                <a16:creationId xmlns:a16="http://schemas.microsoft.com/office/drawing/2014/main" id="{6DFAC806-8F73-440F-AB8E-29E11013638F}"/>
              </a:ext>
            </a:extLst>
          </p:cNvPr>
          <p:cNvSpPr txBox="1"/>
          <p:nvPr/>
        </p:nvSpPr>
        <p:spPr>
          <a:xfrm>
            <a:off x="622170" y="1348033"/>
            <a:ext cx="2894029" cy="400110"/>
          </a:xfrm>
          <a:prstGeom prst="rect">
            <a:avLst/>
          </a:prstGeom>
          <a:noFill/>
        </p:spPr>
        <p:txBody>
          <a:bodyPr wrap="square" rtlCol="0">
            <a:spAutoFit/>
          </a:bodyPr>
          <a:lstStyle/>
          <a:p>
            <a:r>
              <a:rPr lang="en-US" sz="2000" dirty="0" err="1">
                <a:latin typeface="Arial Rounded MT Bold" panose="020F0704030504030204" pitchFamily="34" charset="0"/>
              </a:rPr>
              <a:t>Xampp</a:t>
            </a:r>
            <a:r>
              <a:rPr lang="en-US" sz="2000" dirty="0">
                <a:latin typeface="Arial Rounded MT Bold" panose="020F0704030504030204" pitchFamily="34" charset="0"/>
              </a:rPr>
              <a:t> control panel:</a:t>
            </a:r>
          </a:p>
        </p:txBody>
      </p:sp>
      <p:sp>
        <p:nvSpPr>
          <p:cNvPr id="8" name="TextBox 7">
            <a:extLst>
              <a:ext uri="{FF2B5EF4-FFF2-40B4-BE49-F238E27FC236}">
                <a16:creationId xmlns:a16="http://schemas.microsoft.com/office/drawing/2014/main" id="{6D42F267-4D29-46E4-AC78-8A135E920442}"/>
              </a:ext>
            </a:extLst>
          </p:cNvPr>
          <p:cNvSpPr txBox="1"/>
          <p:nvPr/>
        </p:nvSpPr>
        <p:spPr>
          <a:xfrm>
            <a:off x="7416003" y="1488208"/>
            <a:ext cx="2292919" cy="400110"/>
          </a:xfrm>
          <a:prstGeom prst="rect">
            <a:avLst/>
          </a:prstGeom>
          <a:noFill/>
        </p:spPr>
        <p:txBody>
          <a:bodyPr wrap="square" rtlCol="0">
            <a:spAutoFit/>
          </a:bodyPr>
          <a:lstStyle/>
          <a:p>
            <a:r>
              <a:rPr lang="en-US" sz="2000" dirty="0">
                <a:latin typeface="Arial Rounded MT Bold" panose="020F0704030504030204" pitchFamily="34" charset="0"/>
              </a:rPr>
              <a:t>Create a project:</a:t>
            </a:r>
          </a:p>
        </p:txBody>
      </p:sp>
      <p:sp>
        <p:nvSpPr>
          <p:cNvPr id="9" name="Arrow: Right 8">
            <a:extLst>
              <a:ext uri="{FF2B5EF4-FFF2-40B4-BE49-F238E27FC236}">
                <a16:creationId xmlns:a16="http://schemas.microsoft.com/office/drawing/2014/main" id="{22886B5B-0743-406B-98D6-2C4B5597B059}"/>
              </a:ext>
            </a:extLst>
          </p:cNvPr>
          <p:cNvSpPr/>
          <p:nvPr/>
        </p:nvSpPr>
        <p:spPr>
          <a:xfrm>
            <a:off x="5627802" y="3035431"/>
            <a:ext cx="886120" cy="480767"/>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967342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3D2532-7D9B-4BBE-9805-487D7C08DA87}"/>
              </a:ext>
            </a:extLst>
          </p:cNvPr>
          <p:cNvSpPr txBox="1"/>
          <p:nvPr/>
        </p:nvSpPr>
        <p:spPr>
          <a:xfrm>
            <a:off x="801278" y="1814562"/>
            <a:ext cx="10058400" cy="2585323"/>
          </a:xfrm>
          <a:prstGeom prst="rect">
            <a:avLst/>
          </a:prstGeom>
          <a:noFill/>
        </p:spPr>
        <p:txBody>
          <a:bodyPr wrap="square">
            <a:spAutoFit/>
          </a:bodyPr>
          <a:lstStyle/>
          <a:p>
            <a:pPr algn="l">
              <a:buFont typeface="+mj-lt"/>
              <a:buAutoNum type="arabicPeriod"/>
            </a:pPr>
            <a:r>
              <a:rPr lang="en-US" b="1" i="0" dirty="0">
                <a:solidFill>
                  <a:srgbClr val="00B050"/>
                </a:solidFill>
                <a:effectLst/>
                <a:latin typeface="Arial" panose="020B0604020202020204" pitchFamily="34" charset="0"/>
                <a:cs typeface="Arial" panose="020B0604020202020204" pitchFamily="34" charset="0"/>
              </a:rPr>
              <a:t>Database Setup</a:t>
            </a:r>
            <a:r>
              <a:rPr lang="en-US" b="0" i="0" dirty="0">
                <a:effectLst/>
                <a:latin typeface="Arial" panose="020B0604020202020204" pitchFamily="34" charset="0"/>
                <a:cs typeface="Arial" panose="020B0604020202020204" pitchFamily="34" charset="0"/>
              </a:rPr>
              <a:t>: First, create a MySQL database to store poll questions, answer options, and responses. You'll need tables for polls, questions, answer options, and responses. The structure of your database will depend on the specific requirements of your poll system.</a:t>
            </a:r>
          </a:p>
          <a:p>
            <a:pPr algn="l"/>
            <a:endParaRPr lang="en-US" b="0" i="0" dirty="0">
              <a:effectLst/>
              <a:latin typeface="Arial" panose="020B0604020202020204" pitchFamily="34" charset="0"/>
              <a:cs typeface="Arial" panose="020B0604020202020204" pitchFamily="34" charset="0"/>
            </a:endParaRPr>
          </a:p>
          <a:p>
            <a:pPr algn="l"/>
            <a:r>
              <a:rPr lang="en-US" b="1" i="0" dirty="0">
                <a:effectLst/>
                <a:latin typeface="Arial" panose="020B0604020202020204" pitchFamily="34" charset="0"/>
                <a:cs typeface="Arial" panose="020B0604020202020204" pitchFamily="34" charset="0"/>
              </a:rPr>
              <a:t>2. </a:t>
            </a:r>
            <a:r>
              <a:rPr lang="en-US" b="1" i="0" dirty="0">
                <a:solidFill>
                  <a:srgbClr val="00B050"/>
                </a:solidFill>
                <a:effectLst/>
                <a:latin typeface="Arial" panose="020B0604020202020204" pitchFamily="34" charset="0"/>
                <a:cs typeface="Arial" panose="020B0604020202020204" pitchFamily="34" charset="0"/>
              </a:rPr>
              <a:t>PHP Backend</a:t>
            </a:r>
            <a:r>
              <a:rPr lang="en-US" b="0" i="0" dirty="0">
                <a:effectLst/>
                <a:latin typeface="Arial" panose="020B0604020202020204" pitchFamily="34" charset="0"/>
                <a:cs typeface="Arial" panose="020B0604020202020204" pitchFamily="34" charset="0"/>
              </a:rPr>
              <a:t>: Create a PHP backend to interact with the database. You'll need PHP scripts to:</a:t>
            </a:r>
          </a:p>
          <a:p>
            <a:pPr marL="742950" lvl="1" indent="-285750" algn="l">
              <a:buFont typeface="+mj-lt"/>
              <a:buAutoNum type="arabicPeriod"/>
            </a:pPr>
            <a:r>
              <a:rPr lang="en-US" b="0" i="0" dirty="0">
                <a:effectLst/>
                <a:latin typeface="Arial" panose="020B0604020202020204" pitchFamily="34" charset="0"/>
                <a:cs typeface="Arial" panose="020B0604020202020204" pitchFamily="34" charset="0"/>
              </a:rPr>
              <a:t>Retrieve poll questions and answer options from the database.</a:t>
            </a:r>
          </a:p>
          <a:p>
            <a:pPr marL="742950" lvl="1" indent="-285750" algn="l">
              <a:buFont typeface="+mj-lt"/>
              <a:buAutoNum type="arabicPeriod"/>
            </a:pPr>
            <a:r>
              <a:rPr lang="en-US" b="0" i="0" dirty="0">
                <a:effectLst/>
                <a:latin typeface="Arial" panose="020B0604020202020204" pitchFamily="34" charset="0"/>
                <a:cs typeface="Arial" panose="020B0604020202020204" pitchFamily="34" charset="0"/>
              </a:rPr>
              <a:t>Store student responses in the database.</a:t>
            </a:r>
          </a:p>
          <a:p>
            <a:pPr marL="742950" lvl="1" indent="-285750" algn="l">
              <a:buFont typeface="+mj-lt"/>
              <a:buAutoNum type="arabicPeriod"/>
            </a:pPr>
            <a:r>
              <a:rPr lang="en-US" b="0" i="0" dirty="0">
                <a:effectLst/>
                <a:latin typeface="Arial" panose="020B0604020202020204" pitchFamily="34" charset="0"/>
                <a:cs typeface="Arial" panose="020B0604020202020204" pitchFamily="34" charset="0"/>
              </a:rPr>
              <a:t>Calculate and display poll results.</a:t>
            </a:r>
          </a:p>
        </p:txBody>
      </p:sp>
      <p:sp>
        <p:nvSpPr>
          <p:cNvPr id="5" name="TextBox 4">
            <a:extLst>
              <a:ext uri="{FF2B5EF4-FFF2-40B4-BE49-F238E27FC236}">
                <a16:creationId xmlns:a16="http://schemas.microsoft.com/office/drawing/2014/main" id="{0079FDFD-B64B-4C9C-B2F3-4D16EC51DF00}"/>
              </a:ext>
            </a:extLst>
          </p:cNvPr>
          <p:cNvSpPr txBox="1"/>
          <p:nvPr/>
        </p:nvSpPr>
        <p:spPr>
          <a:xfrm>
            <a:off x="716437" y="477055"/>
            <a:ext cx="10058400" cy="702372"/>
          </a:xfrm>
          <a:prstGeom prst="rect">
            <a:avLst/>
          </a:prstGeom>
          <a:noFill/>
        </p:spPr>
        <p:txBody>
          <a:bodyPr wrap="square">
            <a:spAutoFit/>
          </a:bodyPr>
          <a:lstStyle/>
          <a:p>
            <a:pPr marL="0" marR="0">
              <a:lnSpc>
                <a:spcPct val="115000"/>
              </a:lnSpc>
              <a:spcBef>
                <a:spcPts val="0"/>
              </a:spcBef>
              <a:spcAft>
                <a:spcPts val="0"/>
              </a:spcAft>
            </a:pPr>
            <a:r>
              <a:rPr lang="en-GB" sz="1800" dirty="0">
                <a:effectLst/>
                <a:latin typeface="Arial Rounded MT Bold" panose="020F0704030504030204" pitchFamily="34" charset="0"/>
                <a:ea typeface="Arial" panose="020B0604020202020204" pitchFamily="34" charset="0"/>
              </a:rPr>
              <a:t>Q1: suppose you want to take input from students via an online poll.</a:t>
            </a:r>
            <a:r>
              <a:rPr lang="en-US" dirty="0">
                <a:latin typeface="Arial Rounded MT Bold" panose="020F0704030504030204" pitchFamily="34" charset="0"/>
                <a:ea typeface="Arial" panose="020B0604020202020204" pitchFamily="34" charset="0"/>
              </a:rPr>
              <a:t> </a:t>
            </a:r>
            <a:r>
              <a:rPr lang="en-GB" sz="1800" dirty="0">
                <a:effectLst/>
                <a:latin typeface="Arial Rounded MT Bold" panose="020F0704030504030204" pitchFamily="34" charset="0"/>
                <a:ea typeface="Arial" panose="020B0604020202020204" pitchFamily="34" charset="0"/>
              </a:rPr>
              <a:t>How can you develop it using MYSQL and PHP? Just Give the idea.</a:t>
            </a:r>
            <a:endParaRPr lang="en-US" sz="1800" dirty="0">
              <a:effectLst/>
              <a:latin typeface="Arial Rounded MT Bold" panose="020F0704030504030204" pitchFamily="34" charset="0"/>
              <a:ea typeface="Arial" panose="020B0604020202020204" pitchFamily="34" charset="0"/>
            </a:endParaRPr>
          </a:p>
        </p:txBody>
      </p:sp>
    </p:spTree>
    <p:extLst>
      <p:ext uri="{BB962C8B-B14F-4D97-AF65-F5344CB8AC3E}">
        <p14:creationId xmlns:p14="http://schemas.microsoft.com/office/powerpoint/2010/main" val="13396548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E430DE-601E-4086-ABE3-34E83C5E4222}"/>
              </a:ext>
            </a:extLst>
          </p:cNvPr>
          <p:cNvSpPr txBox="1"/>
          <p:nvPr/>
        </p:nvSpPr>
        <p:spPr>
          <a:xfrm>
            <a:off x="578086" y="1720840"/>
            <a:ext cx="10507836" cy="3693319"/>
          </a:xfrm>
          <a:prstGeom prst="rect">
            <a:avLst/>
          </a:prstGeom>
          <a:noFill/>
        </p:spPr>
        <p:txBody>
          <a:bodyPr wrap="square">
            <a:spAutoFit/>
          </a:bodyPr>
          <a:lstStyle/>
          <a:p>
            <a:pPr algn="l"/>
            <a:r>
              <a:rPr lang="en-US" b="1" i="0" dirty="0">
                <a:solidFill>
                  <a:schemeClr val="accent1">
                    <a:lumMod val="75000"/>
                  </a:schemeClr>
                </a:solidFill>
                <a:effectLst/>
                <a:latin typeface="Arial" panose="020B0604020202020204" pitchFamily="34" charset="0"/>
                <a:cs typeface="Arial" panose="020B0604020202020204" pitchFamily="34" charset="0"/>
              </a:rPr>
              <a:t>Learning Management Systems (LMS):</a:t>
            </a:r>
          </a:p>
          <a:p>
            <a:pPr algn="l"/>
            <a:endParaRPr lang="en-US" b="0" i="0" dirty="0">
              <a:solidFill>
                <a:schemeClr val="accent1">
                  <a:lumMod val="75000"/>
                </a:schemeClr>
              </a:solidFill>
              <a:effectLst/>
              <a:latin typeface="Arial" panose="020B0604020202020204" pitchFamily="34" charset="0"/>
              <a:cs typeface="Arial" panose="020B0604020202020204" pitchFamily="34" charset="0"/>
            </a:endParaRPr>
          </a:p>
          <a:p>
            <a:pPr algn="l"/>
            <a:r>
              <a:rPr lang="en-US" b="1" i="0" dirty="0">
                <a:effectLst/>
                <a:latin typeface="Arial" panose="020B0604020202020204" pitchFamily="34" charset="0"/>
                <a:cs typeface="Arial" panose="020B0604020202020204" pitchFamily="34" charset="0"/>
              </a:rPr>
              <a:t>Moodle:</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Open-source, highly customizable, supports various content types, extensive community and resources.</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Requires technical expertise for advanced customization.</a:t>
            </a:r>
          </a:p>
          <a:p>
            <a:pPr algn="l"/>
            <a:r>
              <a:rPr lang="en-US" b="1" i="0" dirty="0">
                <a:effectLst/>
                <a:latin typeface="Arial" panose="020B0604020202020204" pitchFamily="34" charset="0"/>
                <a:cs typeface="Arial" panose="020B0604020202020204" pitchFamily="34" charset="0"/>
              </a:rPr>
              <a:t>Canvas by Instructure:</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User-friendly interface, mobile app, supports collaboration, analytics, and assessment tools.</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Costly for some institutions, limited free version.</a:t>
            </a:r>
          </a:p>
          <a:p>
            <a:pPr algn="l"/>
            <a:r>
              <a:rPr lang="en-US" b="1" i="0" dirty="0">
                <a:effectLst/>
                <a:latin typeface="Arial" panose="020B0604020202020204" pitchFamily="34" charset="0"/>
                <a:cs typeface="Arial" panose="020B0604020202020204" pitchFamily="34" charset="0"/>
              </a:rPr>
              <a:t>Blackboard Learn:</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Robust features, assessment tools, integration options, analytics.</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Can be complex, costly, mixed user experiences.</a:t>
            </a:r>
          </a:p>
        </p:txBody>
      </p:sp>
      <p:sp>
        <p:nvSpPr>
          <p:cNvPr id="4" name="TextBox 3">
            <a:extLst>
              <a:ext uri="{FF2B5EF4-FFF2-40B4-BE49-F238E27FC236}">
                <a16:creationId xmlns:a16="http://schemas.microsoft.com/office/drawing/2014/main" id="{B1BDBA95-AFFC-4050-9808-85393552B436}"/>
              </a:ext>
            </a:extLst>
          </p:cNvPr>
          <p:cNvSpPr txBox="1"/>
          <p:nvPr/>
        </p:nvSpPr>
        <p:spPr>
          <a:xfrm>
            <a:off x="578086" y="497104"/>
            <a:ext cx="6463737"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Digital Learning Technologies</a:t>
            </a:r>
          </a:p>
        </p:txBody>
      </p:sp>
    </p:spTree>
    <p:extLst>
      <p:ext uri="{BB962C8B-B14F-4D97-AF65-F5344CB8AC3E}">
        <p14:creationId xmlns:p14="http://schemas.microsoft.com/office/powerpoint/2010/main" val="3482010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2D5D5D-49D6-4122-868B-47BC134BAAF5}"/>
              </a:ext>
            </a:extLst>
          </p:cNvPr>
          <p:cNvSpPr txBox="1"/>
          <p:nvPr/>
        </p:nvSpPr>
        <p:spPr>
          <a:xfrm>
            <a:off x="754144" y="1446197"/>
            <a:ext cx="10048974" cy="3139321"/>
          </a:xfrm>
          <a:prstGeom prst="rect">
            <a:avLst/>
          </a:prstGeom>
          <a:noFill/>
        </p:spPr>
        <p:txBody>
          <a:bodyPr wrap="square">
            <a:spAutoFit/>
          </a:bodyPr>
          <a:lstStyle/>
          <a:p>
            <a:pPr algn="l"/>
            <a:r>
              <a:rPr lang="en-US" b="1" i="0" dirty="0">
                <a:solidFill>
                  <a:schemeClr val="accent1">
                    <a:lumMod val="75000"/>
                  </a:schemeClr>
                </a:solidFill>
                <a:effectLst/>
                <a:latin typeface="Arial" panose="020B0604020202020204" pitchFamily="34" charset="0"/>
                <a:cs typeface="Arial" panose="020B0604020202020204" pitchFamily="34" charset="0"/>
              </a:rPr>
              <a:t>Synchronous Technologies:</a:t>
            </a:r>
          </a:p>
          <a:p>
            <a:pPr algn="l"/>
            <a:endParaRPr lang="en-US" b="0" i="0" dirty="0">
              <a:solidFill>
                <a:schemeClr val="accent1">
                  <a:lumMod val="75000"/>
                </a:schemeClr>
              </a:solidFill>
              <a:effectLst/>
              <a:latin typeface="Arial" panose="020B0604020202020204" pitchFamily="34" charset="0"/>
              <a:cs typeface="Arial" panose="020B0604020202020204" pitchFamily="34" charset="0"/>
            </a:endParaRPr>
          </a:p>
          <a:p>
            <a:pPr algn="l"/>
            <a:r>
              <a:rPr lang="en-US" b="1" i="0" dirty="0">
                <a:effectLst/>
                <a:latin typeface="Arial" panose="020B0604020202020204" pitchFamily="34" charset="0"/>
                <a:cs typeface="Arial" panose="020B0604020202020204" pitchFamily="34" charset="0"/>
              </a:rPr>
              <a:t>Zoom:</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Easy to use, screen sharing, breakout rooms, recording, widespread adoption.</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Privacy and security concerns, limited free meetings.</a:t>
            </a:r>
          </a:p>
          <a:p>
            <a:pPr algn="l"/>
            <a:r>
              <a:rPr lang="en-US" b="1" i="0" dirty="0">
                <a:effectLst/>
                <a:latin typeface="Arial" panose="020B0604020202020204" pitchFamily="34" charset="0"/>
                <a:cs typeface="Arial" panose="020B0604020202020204" pitchFamily="34" charset="0"/>
              </a:rPr>
              <a:t>Microsoft Teams:</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Integration with Office 365, chat, video conferencing, file sharing.</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Learning curve, complex for beginners.</a:t>
            </a:r>
          </a:p>
          <a:p>
            <a:pPr algn="l"/>
            <a:r>
              <a:rPr lang="en-US" b="1" i="0" dirty="0">
                <a:effectLst/>
                <a:latin typeface="Arial" panose="020B0604020202020204" pitchFamily="34" charset="0"/>
                <a:cs typeface="Arial" panose="020B0604020202020204" pitchFamily="34" charset="0"/>
              </a:rPr>
              <a:t>Adobe Connect:</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Virtual classrooms, interactive features, content sharing, recording.</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Requires Adobe Flash, can be expensive.</a:t>
            </a:r>
          </a:p>
        </p:txBody>
      </p:sp>
      <p:sp>
        <p:nvSpPr>
          <p:cNvPr id="4" name="TextBox 3">
            <a:extLst>
              <a:ext uri="{FF2B5EF4-FFF2-40B4-BE49-F238E27FC236}">
                <a16:creationId xmlns:a16="http://schemas.microsoft.com/office/drawing/2014/main" id="{001BBBD8-3606-445C-AF81-EB6698545178}"/>
              </a:ext>
            </a:extLst>
          </p:cNvPr>
          <p:cNvSpPr txBox="1"/>
          <p:nvPr/>
        </p:nvSpPr>
        <p:spPr>
          <a:xfrm>
            <a:off x="578086" y="497104"/>
            <a:ext cx="6463737"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Digital Learning Technologies</a:t>
            </a:r>
          </a:p>
        </p:txBody>
      </p:sp>
    </p:spTree>
    <p:extLst>
      <p:ext uri="{BB962C8B-B14F-4D97-AF65-F5344CB8AC3E}">
        <p14:creationId xmlns:p14="http://schemas.microsoft.com/office/powerpoint/2010/main" val="2601893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A11C39-76B5-4012-9AAF-685D471887D3}"/>
              </a:ext>
            </a:extLst>
          </p:cNvPr>
          <p:cNvSpPr txBox="1"/>
          <p:nvPr/>
        </p:nvSpPr>
        <p:spPr>
          <a:xfrm>
            <a:off x="578086" y="497104"/>
            <a:ext cx="6463737"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Digital Learning Technologies</a:t>
            </a:r>
          </a:p>
        </p:txBody>
      </p:sp>
      <p:sp>
        <p:nvSpPr>
          <p:cNvPr id="4" name="TextBox 3">
            <a:extLst>
              <a:ext uri="{FF2B5EF4-FFF2-40B4-BE49-F238E27FC236}">
                <a16:creationId xmlns:a16="http://schemas.microsoft.com/office/drawing/2014/main" id="{AD093813-F607-4C86-9D67-4794BFD83B26}"/>
              </a:ext>
            </a:extLst>
          </p:cNvPr>
          <p:cNvSpPr txBox="1"/>
          <p:nvPr/>
        </p:nvSpPr>
        <p:spPr>
          <a:xfrm>
            <a:off x="688156" y="1446197"/>
            <a:ext cx="10284643" cy="3139321"/>
          </a:xfrm>
          <a:prstGeom prst="rect">
            <a:avLst/>
          </a:prstGeom>
          <a:noFill/>
        </p:spPr>
        <p:txBody>
          <a:bodyPr wrap="square">
            <a:spAutoFit/>
          </a:bodyPr>
          <a:lstStyle/>
          <a:p>
            <a:pPr algn="l"/>
            <a:r>
              <a:rPr lang="en-US" b="1" i="0" dirty="0">
                <a:solidFill>
                  <a:schemeClr val="accent3">
                    <a:lumMod val="75000"/>
                  </a:schemeClr>
                </a:solidFill>
                <a:effectLst/>
                <a:latin typeface="Arial" panose="020B0604020202020204" pitchFamily="34" charset="0"/>
                <a:ea typeface="SimSun" panose="02010600030101010101" pitchFamily="2" charset="-122"/>
                <a:cs typeface="Arial" panose="020B0604020202020204" pitchFamily="34" charset="0"/>
              </a:rPr>
              <a:t>Multimedia Applications:</a:t>
            </a:r>
          </a:p>
          <a:p>
            <a:pPr algn="l"/>
            <a:endParaRPr lang="en-US" b="0" i="0" dirty="0">
              <a:solidFill>
                <a:schemeClr val="accent3">
                  <a:lumMod val="75000"/>
                </a:schemeClr>
              </a:solidFill>
              <a:effectLst/>
              <a:latin typeface="Arial" panose="020B0604020202020204" pitchFamily="34" charset="0"/>
              <a:ea typeface="SimSun" panose="02010600030101010101" pitchFamily="2" charset="-122"/>
              <a:cs typeface="Arial" panose="020B0604020202020204" pitchFamily="34" charset="0"/>
            </a:endParaRPr>
          </a:p>
          <a:p>
            <a:pPr algn="l"/>
            <a:r>
              <a:rPr lang="en-US" b="1" i="0" dirty="0">
                <a:effectLst/>
                <a:latin typeface="Arial" panose="020B0604020202020204" pitchFamily="34" charset="0"/>
                <a:ea typeface="SimSun" panose="02010600030101010101" pitchFamily="2" charset="-122"/>
                <a:cs typeface="Arial" panose="020B0604020202020204" pitchFamily="34" charset="0"/>
              </a:rPr>
              <a:t>Adobe Captivate:</a:t>
            </a:r>
            <a:endParaRPr lang="en-US" b="0" i="0" dirty="0">
              <a:effectLst/>
              <a:latin typeface="Arial" panose="020B0604020202020204" pitchFamily="34" charset="0"/>
              <a:ea typeface="SimSun" panose="02010600030101010101" pitchFamily="2" charset="-122"/>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ea typeface="SimSun" panose="02010600030101010101" pitchFamily="2" charset="-122"/>
                <a:cs typeface="Arial" panose="020B0604020202020204" pitchFamily="34" charset="0"/>
              </a:rPr>
              <a:t>Pros: Authoring tool, responsive design, multimedia support, interactive content.</a:t>
            </a:r>
          </a:p>
          <a:p>
            <a:pPr marL="742950" lvl="1" indent="-285750" algn="l">
              <a:buFont typeface="Arial" panose="020B0604020202020204" pitchFamily="34" charset="0"/>
              <a:buChar char="•"/>
            </a:pPr>
            <a:r>
              <a:rPr lang="en-US" b="0" i="0" dirty="0">
                <a:effectLst/>
                <a:latin typeface="Arial" panose="020B0604020202020204" pitchFamily="34" charset="0"/>
                <a:ea typeface="SimSun" panose="02010600030101010101" pitchFamily="2" charset="-122"/>
                <a:cs typeface="Arial" panose="020B0604020202020204" pitchFamily="34" charset="0"/>
              </a:rPr>
              <a:t>Cons: Learning curve, licensing cost.</a:t>
            </a:r>
          </a:p>
          <a:p>
            <a:pPr algn="l"/>
            <a:r>
              <a:rPr lang="en-US" b="1" i="0" dirty="0">
                <a:effectLst/>
                <a:latin typeface="Arial" panose="020B0604020202020204" pitchFamily="34" charset="0"/>
                <a:ea typeface="SimSun" panose="02010600030101010101" pitchFamily="2" charset="-122"/>
                <a:cs typeface="Arial" panose="020B0604020202020204" pitchFamily="34" charset="0"/>
              </a:rPr>
              <a:t>Articulate Storyline:</a:t>
            </a:r>
            <a:endParaRPr lang="en-US" b="0" i="0" dirty="0">
              <a:effectLst/>
              <a:latin typeface="Arial" panose="020B0604020202020204" pitchFamily="34" charset="0"/>
              <a:ea typeface="SimSun" panose="02010600030101010101" pitchFamily="2" charset="-122"/>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ea typeface="SimSun" panose="02010600030101010101" pitchFamily="2" charset="-122"/>
                <a:cs typeface="Arial" panose="020B0604020202020204" pitchFamily="34" charset="0"/>
              </a:rPr>
              <a:t>Pros: User-friendly, e-learning interactivity, templates, responsive output.</a:t>
            </a:r>
          </a:p>
          <a:p>
            <a:pPr marL="742950" lvl="1" indent="-285750" algn="l">
              <a:buFont typeface="Arial" panose="020B0604020202020204" pitchFamily="34" charset="0"/>
              <a:buChar char="•"/>
            </a:pPr>
            <a:r>
              <a:rPr lang="en-US" b="0" i="0" dirty="0">
                <a:effectLst/>
                <a:latin typeface="Arial" panose="020B0604020202020204" pitchFamily="34" charset="0"/>
                <a:ea typeface="SimSun" panose="02010600030101010101" pitchFamily="2" charset="-122"/>
                <a:cs typeface="Arial" panose="020B0604020202020204" pitchFamily="34" charset="0"/>
              </a:rPr>
              <a:t>Cons: Licensing cost, can be resource-intensive.</a:t>
            </a:r>
          </a:p>
          <a:p>
            <a:pPr algn="l"/>
            <a:r>
              <a:rPr lang="en-US" b="1" i="0" dirty="0">
                <a:effectLst/>
                <a:latin typeface="Arial" panose="020B0604020202020204" pitchFamily="34" charset="0"/>
                <a:ea typeface="SimSun" panose="02010600030101010101" pitchFamily="2" charset="-122"/>
                <a:cs typeface="Arial" panose="020B0604020202020204" pitchFamily="34" charset="0"/>
              </a:rPr>
              <a:t>Camtasia:</a:t>
            </a:r>
            <a:endParaRPr lang="en-US" b="0" i="0" dirty="0">
              <a:effectLst/>
              <a:latin typeface="Arial" panose="020B0604020202020204" pitchFamily="34" charset="0"/>
              <a:ea typeface="SimSun" panose="02010600030101010101" pitchFamily="2" charset="-122"/>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ea typeface="SimSun" panose="02010600030101010101" pitchFamily="2" charset="-122"/>
                <a:cs typeface="Arial" panose="020B0604020202020204" pitchFamily="34" charset="0"/>
              </a:rPr>
              <a:t>Pros: Screen recording, video editing, easy-to-use, rich editing features.</a:t>
            </a:r>
          </a:p>
          <a:p>
            <a:pPr marL="742950" lvl="1" indent="-285750" algn="l">
              <a:buFont typeface="Arial" panose="020B0604020202020204" pitchFamily="34" charset="0"/>
              <a:buChar char="•"/>
            </a:pPr>
            <a:r>
              <a:rPr lang="en-US" b="0" i="0" dirty="0">
                <a:effectLst/>
                <a:latin typeface="Arial" panose="020B0604020202020204" pitchFamily="34" charset="0"/>
                <a:ea typeface="SimSun" panose="02010600030101010101" pitchFamily="2" charset="-122"/>
                <a:cs typeface="Arial" panose="020B0604020202020204" pitchFamily="34" charset="0"/>
              </a:rPr>
              <a:t>Cons: Limited animation, not suitable for complex e-learning.</a:t>
            </a:r>
          </a:p>
        </p:txBody>
      </p:sp>
    </p:spTree>
    <p:extLst>
      <p:ext uri="{BB962C8B-B14F-4D97-AF65-F5344CB8AC3E}">
        <p14:creationId xmlns:p14="http://schemas.microsoft.com/office/powerpoint/2010/main" val="2359759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561B60-B17A-4BF0-B910-7208C4121C67}"/>
              </a:ext>
            </a:extLst>
          </p:cNvPr>
          <p:cNvSpPr txBox="1"/>
          <p:nvPr/>
        </p:nvSpPr>
        <p:spPr>
          <a:xfrm>
            <a:off x="578086" y="497104"/>
            <a:ext cx="6463737"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Digital Learning Technologies</a:t>
            </a:r>
          </a:p>
        </p:txBody>
      </p:sp>
      <p:sp>
        <p:nvSpPr>
          <p:cNvPr id="4" name="TextBox 3">
            <a:extLst>
              <a:ext uri="{FF2B5EF4-FFF2-40B4-BE49-F238E27FC236}">
                <a16:creationId xmlns:a16="http://schemas.microsoft.com/office/drawing/2014/main" id="{33D2FDCF-11EC-4BB5-8132-19D1266A6FD6}"/>
              </a:ext>
            </a:extLst>
          </p:cNvPr>
          <p:cNvSpPr txBox="1"/>
          <p:nvPr/>
        </p:nvSpPr>
        <p:spPr>
          <a:xfrm>
            <a:off x="578086" y="1446197"/>
            <a:ext cx="10583250" cy="3416320"/>
          </a:xfrm>
          <a:prstGeom prst="rect">
            <a:avLst/>
          </a:prstGeom>
          <a:noFill/>
        </p:spPr>
        <p:txBody>
          <a:bodyPr wrap="square">
            <a:spAutoFit/>
          </a:bodyPr>
          <a:lstStyle/>
          <a:p>
            <a:pPr algn="l"/>
            <a:r>
              <a:rPr lang="en-US" b="1" i="0" dirty="0">
                <a:solidFill>
                  <a:schemeClr val="accent4">
                    <a:lumMod val="75000"/>
                  </a:schemeClr>
                </a:solidFill>
                <a:effectLst/>
                <a:latin typeface="Arial" panose="020B0604020202020204" pitchFamily="34" charset="0"/>
                <a:cs typeface="Arial" panose="020B0604020202020204" pitchFamily="34" charset="0"/>
              </a:rPr>
              <a:t>Collaborative Applications:</a:t>
            </a:r>
          </a:p>
          <a:p>
            <a:pPr algn="l"/>
            <a:endParaRPr lang="en-US" b="1" i="0" dirty="0">
              <a:solidFill>
                <a:schemeClr val="accent4">
                  <a:lumMod val="75000"/>
                </a:schemeClr>
              </a:solidFill>
              <a:effectLst/>
              <a:latin typeface="Arial" panose="020B0604020202020204" pitchFamily="34" charset="0"/>
              <a:cs typeface="Arial" panose="020B0604020202020204" pitchFamily="34" charset="0"/>
            </a:endParaRPr>
          </a:p>
          <a:p>
            <a:pPr algn="l"/>
            <a:endParaRPr lang="en-US" b="0" i="0" dirty="0">
              <a:solidFill>
                <a:schemeClr val="accent4">
                  <a:lumMod val="75000"/>
                </a:schemeClr>
              </a:solidFill>
              <a:effectLst/>
              <a:latin typeface="Arial" panose="020B0604020202020204" pitchFamily="34" charset="0"/>
              <a:cs typeface="Arial" panose="020B0604020202020204" pitchFamily="34" charset="0"/>
            </a:endParaRPr>
          </a:p>
          <a:p>
            <a:pPr algn="l"/>
            <a:r>
              <a:rPr lang="en-US" b="1" i="0" dirty="0">
                <a:effectLst/>
                <a:latin typeface="Arial" panose="020B0604020202020204" pitchFamily="34" charset="0"/>
                <a:cs typeface="Arial" panose="020B0604020202020204" pitchFamily="34" charset="0"/>
              </a:rPr>
              <a:t>Google Workspace (formerly G Suite):</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Collaboration, real-time editing, a cloud-based, suite of productivity tools.</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Limited offline access, and data privacy concerns.</a:t>
            </a:r>
          </a:p>
          <a:p>
            <a:pPr algn="l"/>
            <a:r>
              <a:rPr lang="en-US" b="1" i="0" dirty="0">
                <a:effectLst/>
                <a:latin typeface="Arial" panose="020B0604020202020204" pitchFamily="34" charset="0"/>
                <a:cs typeface="Arial" panose="020B0604020202020204" pitchFamily="34" charset="0"/>
              </a:rPr>
              <a:t>Slack:</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Team communication, channels, integrations, file sharing.</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Can be distracting, learning curve.</a:t>
            </a:r>
          </a:p>
          <a:p>
            <a:pPr algn="l"/>
            <a:r>
              <a:rPr lang="en-US" b="1" i="0" dirty="0">
                <a:effectLst/>
                <a:latin typeface="Arial" panose="020B0604020202020204" pitchFamily="34" charset="0"/>
                <a:cs typeface="Arial" panose="020B0604020202020204" pitchFamily="34" charset="0"/>
              </a:rPr>
              <a:t>Trello:</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Project management, visual boards, task assignment, flexible.</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May lack advanced features, better for certain use cases.</a:t>
            </a:r>
          </a:p>
        </p:txBody>
      </p:sp>
    </p:spTree>
    <p:extLst>
      <p:ext uri="{BB962C8B-B14F-4D97-AF65-F5344CB8AC3E}">
        <p14:creationId xmlns:p14="http://schemas.microsoft.com/office/powerpoint/2010/main" val="37896444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B224AE-86A8-4FE4-9E97-86651D19163B}"/>
              </a:ext>
            </a:extLst>
          </p:cNvPr>
          <p:cNvSpPr txBox="1"/>
          <p:nvPr/>
        </p:nvSpPr>
        <p:spPr>
          <a:xfrm>
            <a:off x="876692" y="1584697"/>
            <a:ext cx="9398523" cy="3416320"/>
          </a:xfrm>
          <a:prstGeom prst="rect">
            <a:avLst/>
          </a:prstGeom>
          <a:noFill/>
        </p:spPr>
        <p:txBody>
          <a:bodyPr wrap="square">
            <a:spAutoFit/>
          </a:bodyPr>
          <a:lstStyle/>
          <a:p>
            <a:pPr algn="l"/>
            <a:r>
              <a:rPr lang="en-US" b="1" i="0" dirty="0">
                <a:solidFill>
                  <a:schemeClr val="accent4">
                    <a:lumMod val="75000"/>
                  </a:schemeClr>
                </a:solidFill>
                <a:effectLst/>
                <a:latin typeface="Arial" panose="020B0604020202020204" pitchFamily="34" charset="0"/>
                <a:cs typeface="Arial" panose="020B0604020202020204" pitchFamily="34" charset="0"/>
              </a:rPr>
              <a:t>Cloud-Based Technologies:</a:t>
            </a:r>
          </a:p>
          <a:p>
            <a:pPr algn="l"/>
            <a:endParaRPr lang="en-US" b="1" i="0" dirty="0">
              <a:solidFill>
                <a:schemeClr val="accent4">
                  <a:lumMod val="75000"/>
                </a:schemeClr>
              </a:solidFill>
              <a:effectLst/>
              <a:latin typeface="Arial" panose="020B0604020202020204" pitchFamily="34" charset="0"/>
              <a:cs typeface="Arial" panose="020B0604020202020204" pitchFamily="34" charset="0"/>
            </a:endParaRPr>
          </a:p>
          <a:p>
            <a:pPr algn="l"/>
            <a:endParaRPr lang="en-US" b="0" i="0" dirty="0">
              <a:solidFill>
                <a:schemeClr val="accent4">
                  <a:lumMod val="75000"/>
                </a:schemeClr>
              </a:solidFill>
              <a:effectLst/>
              <a:latin typeface="Arial" panose="020B0604020202020204" pitchFamily="34" charset="0"/>
              <a:cs typeface="Arial" panose="020B0604020202020204" pitchFamily="34" charset="0"/>
            </a:endParaRPr>
          </a:p>
          <a:p>
            <a:pPr algn="l"/>
            <a:r>
              <a:rPr lang="en-US" b="1" i="0" dirty="0">
                <a:effectLst/>
                <a:latin typeface="Arial" panose="020B0604020202020204" pitchFamily="34" charset="0"/>
                <a:cs typeface="Arial" panose="020B0604020202020204" pitchFamily="34" charset="0"/>
              </a:rPr>
              <a:t>Amazon Web Services (AWS):</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Scalability, wide range of services, cost-effective.</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Steeper learning curve, pricing complexity.</a:t>
            </a:r>
          </a:p>
          <a:p>
            <a:pPr algn="l"/>
            <a:r>
              <a:rPr lang="en-US" b="1" i="0" dirty="0">
                <a:effectLst/>
                <a:latin typeface="Arial" panose="020B0604020202020204" pitchFamily="34" charset="0"/>
                <a:cs typeface="Arial" panose="020B0604020202020204" pitchFamily="34" charset="0"/>
              </a:rPr>
              <a:t>Microsoft Azure:</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Integration with Microsoft products, global reach, hybrid cloud options.</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Pricing, complexity.</a:t>
            </a:r>
          </a:p>
          <a:p>
            <a:pPr algn="l"/>
            <a:r>
              <a:rPr lang="en-US" b="1" i="0" dirty="0">
                <a:effectLst/>
                <a:latin typeface="Arial" panose="020B0604020202020204" pitchFamily="34" charset="0"/>
                <a:cs typeface="Arial" panose="020B0604020202020204" pitchFamily="34" charset="0"/>
              </a:rPr>
              <a:t>Google Cloud Platform (GCP):</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Data analytics, machine learning, data storage, developer-friendly.</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Smaller market share compared to AWS and Azure.</a:t>
            </a:r>
          </a:p>
        </p:txBody>
      </p:sp>
      <p:sp>
        <p:nvSpPr>
          <p:cNvPr id="4" name="TextBox 3">
            <a:extLst>
              <a:ext uri="{FF2B5EF4-FFF2-40B4-BE49-F238E27FC236}">
                <a16:creationId xmlns:a16="http://schemas.microsoft.com/office/drawing/2014/main" id="{1949A653-58DF-42DE-9F60-B39C65EF8414}"/>
              </a:ext>
            </a:extLst>
          </p:cNvPr>
          <p:cNvSpPr txBox="1"/>
          <p:nvPr/>
        </p:nvSpPr>
        <p:spPr>
          <a:xfrm>
            <a:off x="578086" y="497104"/>
            <a:ext cx="6463737"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Digital Learning Technologies</a:t>
            </a:r>
          </a:p>
        </p:txBody>
      </p:sp>
    </p:spTree>
    <p:extLst>
      <p:ext uri="{BB962C8B-B14F-4D97-AF65-F5344CB8AC3E}">
        <p14:creationId xmlns:p14="http://schemas.microsoft.com/office/powerpoint/2010/main" val="26901031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10CC1B-2D9C-4CC0-8B18-4B6CC8EF841D}"/>
              </a:ext>
            </a:extLst>
          </p:cNvPr>
          <p:cNvSpPr txBox="1"/>
          <p:nvPr/>
        </p:nvSpPr>
        <p:spPr>
          <a:xfrm>
            <a:off x="911258" y="1583979"/>
            <a:ext cx="10369484" cy="3416320"/>
          </a:xfrm>
          <a:prstGeom prst="rect">
            <a:avLst/>
          </a:prstGeom>
          <a:noFill/>
        </p:spPr>
        <p:txBody>
          <a:bodyPr wrap="square">
            <a:spAutoFit/>
          </a:bodyPr>
          <a:lstStyle/>
          <a:p>
            <a:pPr algn="l"/>
            <a:r>
              <a:rPr lang="en-US" b="1" i="0" dirty="0">
                <a:solidFill>
                  <a:schemeClr val="accent4">
                    <a:lumMod val="50000"/>
                  </a:schemeClr>
                </a:solidFill>
                <a:effectLst/>
                <a:latin typeface="Arial" panose="020B0604020202020204" pitchFamily="34" charset="0"/>
                <a:cs typeface="Arial" panose="020B0604020202020204" pitchFamily="34" charset="0"/>
              </a:rPr>
              <a:t>Emerging Technologies:</a:t>
            </a:r>
          </a:p>
          <a:p>
            <a:pPr algn="l"/>
            <a:endParaRPr lang="en-US" b="1" i="0" dirty="0">
              <a:solidFill>
                <a:schemeClr val="accent4">
                  <a:lumMod val="50000"/>
                </a:schemeClr>
              </a:solidFill>
              <a:effectLst/>
              <a:latin typeface="Arial" panose="020B0604020202020204" pitchFamily="34" charset="0"/>
              <a:cs typeface="Arial" panose="020B0604020202020204" pitchFamily="34" charset="0"/>
            </a:endParaRPr>
          </a:p>
          <a:p>
            <a:pPr algn="l"/>
            <a:endParaRPr lang="en-US" b="0" i="0" dirty="0">
              <a:solidFill>
                <a:schemeClr val="accent4">
                  <a:lumMod val="50000"/>
                </a:schemeClr>
              </a:solidFill>
              <a:effectLst/>
              <a:latin typeface="Arial" panose="020B0604020202020204" pitchFamily="34" charset="0"/>
              <a:cs typeface="Arial" panose="020B0604020202020204" pitchFamily="34" charset="0"/>
            </a:endParaRPr>
          </a:p>
          <a:p>
            <a:pPr algn="l"/>
            <a:r>
              <a:rPr lang="en-US" b="1" i="0" dirty="0">
                <a:effectLst/>
                <a:latin typeface="Arial" panose="020B0604020202020204" pitchFamily="34" charset="0"/>
                <a:cs typeface="Arial" panose="020B0604020202020204" pitchFamily="34" charset="0"/>
              </a:rPr>
              <a:t>Artificial Intelligence (AI) in Education:</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Personalized learning, automation, data analytics, chatbots.</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Ethical and privacy concerns, expensive to implement.</a:t>
            </a:r>
          </a:p>
          <a:p>
            <a:pPr algn="l"/>
            <a:r>
              <a:rPr lang="en-US" b="1" i="0" dirty="0">
                <a:effectLst/>
                <a:latin typeface="Arial" panose="020B0604020202020204" pitchFamily="34" charset="0"/>
                <a:cs typeface="Arial" panose="020B0604020202020204" pitchFamily="34" charset="0"/>
              </a:rPr>
              <a:t>Virtual Reality (VR) and Augmented Reality (AR) in Education:</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Immersive learning experiences, engagement, simulations.</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Cost of hardware, limited content, potential distraction.</a:t>
            </a:r>
          </a:p>
          <a:p>
            <a:pPr algn="l"/>
            <a:r>
              <a:rPr lang="en-US" b="1" i="0" dirty="0">
                <a:effectLst/>
                <a:latin typeface="Arial" panose="020B0604020202020204" pitchFamily="34" charset="0"/>
                <a:cs typeface="Arial" panose="020B0604020202020204" pitchFamily="34" charset="0"/>
              </a:rPr>
              <a:t>Blockchain in Education:</a:t>
            </a:r>
            <a:endParaRPr lang="en-US" b="0" i="0" dirty="0">
              <a:effectLst/>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Pros: Secure credentials, verification, transparency, fraud prevention.</a:t>
            </a:r>
          </a:p>
          <a:p>
            <a:pPr marL="742950" lvl="1" indent="-285750" algn="l">
              <a:buFont typeface="Arial" panose="020B0604020202020204" pitchFamily="34" charset="0"/>
              <a:buChar char="•"/>
            </a:pPr>
            <a:r>
              <a:rPr lang="en-US" b="0" i="0" dirty="0">
                <a:effectLst/>
                <a:latin typeface="Arial" panose="020B0604020202020204" pitchFamily="34" charset="0"/>
                <a:cs typeface="Arial" panose="020B0604020202020204" pitchFamily="34" charset="0"/>
              </a:rPr>
              <a:t>Cons: Emerging technology, scalability challenges, complexity.</a:t>
            </a:r>
          </a:p>
        </p:txBody>
      </p:sp>
      <p:sp>
        <p:nvSpPr>
          <p:cNvPr id="4" name="TextBox 3">
            <a:extLst>
              <a:ext uri="{FF2B5EF4-FFF2-40B4-BE49-F238E27FC236}">
                <a16:creationId xmlns:a16="http://schemas.microsoft.com/office/drawing/2014/main" id="{6F0DC286-D01B-4C42-89AA-2A822C233E60}"/>
              </a:ext>
            </a:extLst>
          </p:cNvPr>
          <p:cNvSpPr txBox="1"/>
          <p:nvPr/>
        </p:nvSpPr>
        <p:spPr>
          <a:xfrm>
            <a:off x="578086" y="497104"/>
            <a:ext cx="6463737" cy="550920"/>
          </a:xfrm>
          <a:prstGeom prst="rect">
            <a:avLst/>
          </a:prstGeom>
          <a:noFill/>
        </p:spPr>
        <p:txBody>
          <a:bodyPr wrap="square">
            <a:spAutoFit/>
          </a:bodyPr>
          <a:lstStyle/>
          <a:p>
            <a:pPr marL="0" marR="0">
              <a:lnSpc>
                <a:spcPct val="115000"/>
              </a:lnSpc>
              <a:spcBef>
                <a:spcPts val="0"/>
              </a:spcBef>
              <a:spcAft>
                <a:spcPts val="0"/>
              </a:spcAft>
            </a:pPr>
            <a:r>
              <a:rPr lang="en-US" sz="2800" dirty="0">
                <a:solidFill>
                  <a:schemeClr val="accent6">
                    <a:lumMod val="50000"/>
                  </a:schemeClr>
                </a:solidFill>
                <a:effectLst/>
                <a:latin typeface="Cascadia Mono SemiBold" panose="020B0609020000020004" pitchFamily="49" charset="0"/>
                <a:ea typeface="Cascadia Mono SemiBold" panose="020B0609020000020004" pitchFamily="49" charset="0"/>
                <a:cs typeface="Cascadia Mono SemiBold" panose="020B0609020000020004" pitchFamily="49" charset="0"/>
              </a:rPr>
              <a:t>Digital Learning Technologies</a:t>
            </a:r>
          </a:p>
        </p:txBody>
      </p:sp>
    </p:spTree>
    <p:extLst>
      <p:ext uri="{BB962C8B-B14F-4D97-AF65-F5344CB8AC3E}">
        <p14:creationId xmlns:p14="http://schemas.microsoft.com/office/powerpoint/2010/main" val="1713244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AC6EE7-35E6-4FFB-A68A-C37B579E35AA}"/>
              </a:ext>
            </a:extLst>
          </p:cNvPr>
          <p:cNvSpPr txBox="1"/>
          <p:nvPr/>
        </p:nvSpPr>
        <p:spPr>
          <a:xfrm>
            <a:off x="3723587" y="2921168"/>
            <a:ext cx="5816339" cy="1015663"/>
          </a:xfrm>
          <a:prstGeom prst="rect">
            <a:avLst/>
          </a:prstGeom>
          <a:noFill/>
        </p:spPr>
        <p:txBody>
          <a:bodyPr wrap="square" rtlCol="0">
            <a:spAutoFit/>
          </a:bodyPr>
          <a:lstStyle/>
          <a:p>
            <a:r>
              <a:rPr lang="en-US" sz="6000" dirty="0">
                <a:solidFill>
                  <a:srgbClr val="0070C0"/>
                </a:solidFill>
                <a:latin typeface="Arial Rounded MT Bold" panose="020F0704030504030204" pitchFamily="34" charset="0"/>
              </a:rPr>
              <a:t>THANK YOU</a:t>
            </a:r>
          </a:p>
        </p:txBody>
      </p:sp>
    </p:spTree>
    <p:extLst>
      <p:ext uri="{BB962C8B-B14F-4D97-AF65-F5344CB8AC3E}">
        <p14:creationId xmlns:p14="http://schemas.microsoft.com/office/powerpoint/2010/main" val="239996383"/>
      </p:ext>
    </p:extLst>
  </p:cSld>
  <p:clrMapOvr>
    <a:masterClrMapping/>
  </p:clrMapOvr>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38A3B04-B0F3-4C12-A722-52B5CF6D97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{1D863A6D-1F3C-4DB9-86F4-E97E19E420C1}tf33845126_win32</Template>
  <TotalTime>459</TotalTime>
  <Words>833</Words>
  <Application>Microsoft Office PowerPoint</Application>
  <PresentationFormat>Widescreen</PresentationFormat>
  <Paragraphs>108</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Arial Rounded MT Bold</vt:lpstr>
      <vt:lpstr>Bahnschrift SemiBold SemiConden</vt:lpstr>
      <vt:lpstr>Bookman Old Style</vt:lpstr>
      <vt:lpstr>Calibri</vt:lpstr>
      <vt:lpstr>Cascadia Mono SemiBold</vt:lpstr>
      <vt:lpstr>Franklin Gothic Book</vt:lpstr>
      <vt:lpstr>Roboto</vt:lpstr>
      <vt:lpstr>Times New Roman</vt:lpstr>
      <vt:lpstr>1_RetrospectVTI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sakib emon</dc:creator>
  <cp:lastModifiedBy>Tarequl Islam</cp:lastModifiedBy>
  <cp:revision>3</cp:revision>
  <dcterms:created xsi:type="dcterms:W3CDTF">2023-11-05T15:27:18Z</dcterms:created>
  <dcterms:modified xsi:type="dcterms:W3CDTF">2023-11-06T21:27:16Z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