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7" r:id="rId7"/>
    <p:sldId id="268" r:id="rId8"/>
    <p:sldId id="269" r:id="rId9"/>
    <p:sldId id="270" r:id="rId10"/>
    <p:sldId id="271"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5"/>
  </p:normalViewPr>
  <p:slideViewPr>
    <p:cSldViewPr snapToGrid="0" snapToObjects="1">
      <p:cViewPr varScale="1">
        <p:scale>
          <a:sx n="107" d="100"/>
          <a:sy n="107" d="100"/>
        </p:scale>
        <p:origin x="176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02269"/>
            <a:ext cx="7772400" cy="1470025"/>
          </a:xfrm>
        </p:spPr>
        <p:txBody>
          <a:bodyPr>
            <a:normAutofit/>
          </a:bodyPr>
          <a:lstStyle/>
          <a:p>
            <a:r>
              <a:rPr sz="5400" dirty="0"/>
              <a:t>PHP for Form Validation</a:t>
            </a:r>
          </a:p>
        </p:txBody>
      </p:sp>
      <p:sp>
        <p:nvSpPr>
          <p:cNvPr id="3" name="Subtitle 2"/>
          <p:cNvSpPr>
            <a:spLocks noGrp="1"/>
          </p:cNvSpPr>
          <p:nvPr>
            <p:ph type="subTitle" idx="1"/>
          </p:nvPr>
        </p:nvSpPr>
        <p:spPr>
          <a:xfrm>
            <a:off x="685800" y="3814948"/>
            <a:ext cx="7261761" cy="1752600"/>
          </a:xfrm>
        </p:spPr>
        <p:txBody>
          <a:bodyPr>
            <a:normAutofit fontScale="92500" lnSpcReduction="20000"/>
          </a:bodyPr>
          <a:lstStyle/>
          <a:p>
            <a:r>
              <a:rPr b="1" dirty="0">
                <a:solidFill>
                  <a:schemeClr val="tx1"/>
                </a:solidFill>
              </a:rPr>
              <a:t>Aditya </a:t>
            </a:r>
            <a:r>
              <a:rPr b="1" dirty="0" err="1">
                <a:solidFill>
                  <a:schemeClr val="tx1"/>
                </a:solidFill>
              </a:rPr>
              <a:t>Rajbongshi</a:t>
            </a:r>
            <a:endParaRPr lang="en-US" b="1" dirty="0">
              <a:solidFill>
                <a:schemeClr val="tx1"/>
              </a:solidFill>
            </a:endParaRPr>
          </a:p>
          <a:p>
            <a:r>
              <a:rPr lang="en-US" b="1" dirty="0">
                <a:solidFill>
                  <a:schemeClr val="tx1"/>
                </a:solidFill>
              </a:rPr>
              <a:t>Lecturer</a:t>
            </a:r>
          </a:p>
          <a:p>
            <a:r>
              <a:rPr lang="en-US" b="1" dirty="0">
                <a:solidFill>
                  <a:schemeClr val="tx1"/>
                </a:solidFill>
              </a:rPr>
              <a:t>Dept of Educational Technology and Engineering</a:t>
            </a:r>
            <a:endParaRPr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endParaRPr/>
          </a:p>
          <a:p>
            <a:r>
              <a:t>What is Form Validation?</a:t>
            </a:r>
          </a:p>
          <a:p>
            <a:r>
              <a:t>Why is Form Validation important?</a:t>
            </a:r>
          </a:p>
          <a:p>
            <a:r>
              <a:t>Client-side vs Server-side validation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PHP for Form Validation?</a:t>
            </a:r>
          </a:p>
        </p:txBody>
      </p:sp>
      <p:sp>
        <p:nvSpPr>
          <p:cNvPr id="3" name="Content Placeholder 2"/>
          <p:cNvSpPr>
            <a:spLocks noGrp="1"/>
          </p:cNvSpPr>
          <p:nvPr>
            <p:ph idx="1"/>
          </p:nvPr>
        </p:nvSpPr>
        <p:spPr/>
        <p:txBody>
          <a:bodyPr/>
          <a:lstStyle/>
          <a:p>
            <a:endParaRPr/>
          </a:p>
          <a:p>
            <a:r>
              <a:t>Server-side security</a:t>
            </a:r>
          </a:p>
          <a:p>
            <a:r>
              <a:t>Reliable data handling</a:t>
            </a:r>
          </a:p>
          <a:p>
            <a:r>
              <a:t>Prevents malicious inputs</a:t>
            </a:r>
          </a:p>
          <a:p>
            <a:r>
              <a:t>Works even if JavaScript is disabled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Basic Workflow of PHP Form Validation</a:t>
            </a:r>
          </a:p>
        </p:txBody>
      </p:sp>
      <p:sp>
        <p:nvSpPr>
          <p:cNvPr id="3" name="Content Placeholder 2"/>
          <p:cNvSpPr>
            <a:spLocks noGrp="1"/>
          </p:cNvSpPr>
          <p:nvPr>
            <p:ph idx="1"/>
          </p:nvPr>
        </p:nvSpPr>
        <p:spPr/>
        <p:txBody>
          <a:bodyPr/>
          <a:lstStyle/>
          <a:p>
            <a:endParaRPr/>
          </a:p>
          <a:p>
            <a:r>
              <a:t>User submits form</a:t>
            </a:r>
          </a:p>
          <a:p>
            <a:r>
              <a:t>Data sent to server (PHP script)</a:t>
            </a:r>
          </a:p>
          <a:p>
            <a:r>
              <a:t>PHP validates inputs</a:t>
            </a:r>
          </a:p>
          <a:p>
            <a:r>
              <a:t>If errors, show messages and ask for correction</a:t>
            </a:r>
          </a:p>
          <a:p>
            <a:r>
              <a:t>If valid, process data (e.g., save to database)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Validation Checks</a:t>
            </a:r>
          </a:p>
        </p:txBody>
      </p:sp>
      <p:sp>
        <p:nvSpPr>
          <p:cNvPr id="3" name="Content Placeholder 2"/>
          <p:cNvSpPr>
            <a:spLocks noGrp="1"/>
          </p:cNvSpPr>
          <p:nvPr>
            <p:ph idx="1"/>
          </p:nvPr>
        </p:nvSpPr>
        <p:spPr/>
        <p:txBody>
          <a:bodyPr/>
          <a:lstStyle/>
          <a:p>
            <a:endParaRPr/>
          </a:p>
          <a:p>
            <a:r>
              <a:t>Required fields (non-empty)</a:t>
            </a:r>
          </a:p>
          <a:p>
            <a:r>
              <a:t>Valid email format</a:t>
            </a:r>
          </a:p>
          <a:p>
            <a:r>
              <a:t>Password strength</a:t>
            </a:r>
          </a:p>
          <a:p>
            <a:r>
              <a:t>Numeric checks</a:t>
            </a:r>
          </a:p>
          <a:p>
            <a:r>
              <a:t>Matching fields (e.g., password confirmation)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PHP - A Simple HTML Form</a:t>
            </a:r>
          </a:p>
        </p:txBody>
      </p:sp>
      <p:sp>
        <p:nvSpPr>
          <p:cNvPr id="3" name="Content Placeholder 2"/>
          <p:cNvSpPr>
            <a:spLocks noGrp="1"/>
          </p:cNvSpPr>
          <p:nvPr>
            <p:ph idx="1"/>
          </p:nvPr>
        </p:nvSpPr>
        <p:spPr>
          <a:xfrm>
            <a:off x="2027711" y="1417638"/>
            <a:ext cx="5088577" cy="2318657"/>
          </a:xfrm>
        </p:spPr>
        <p:txBody>
          <a:bodyPr>
            <a:normAutofit/>
          </a:bodyPr>
          <a:lstStyle/>
          <a:p>
            <a:pPr marL="0" indent="0">
              <a:buNone/>
            </a:pPr>
            <a:r>
              <a:rPr lang="en-US" sz="1300" dirty="0"/>
              <a:t>&lt;html&gt;</a:t>
            </a:r>
          </a:p>
          <a:p>
            <a:pPr marL="0" indent="0">
              <a:buNone/>
            </a:pPr>
            <a:r>
              <a:rPr lang="en-US" sz="1300" dirty="0"/>
              <a:t>&lt;body&gt; </a:t>
            </a:r>
          </a:p>
          <a:p>
            <a:pPr marL="0" indent="0">
              <a:buNone/>
            </a:pPr>
            <a:r>
              <a:rPr lang="en-US" sz="1300" dirty="0"/>
              <a:t>&lt;form action="</a:t>
            </a:r>
            <a:r>
              <a:rPr lang="en-US" sz="1300" dirty="0" err="1"/>
              <a:t>welcome.php</a:t>
            </a:r>
            <a:r>
              <a:rPr lang="en-US" sz="1300" dirty="0"/>
              <a:t>" method="POST"&gt; </a:t>
            </a:r>
          </a:p>
          <a:p>
            <a:pPr marL="0" indent="0">
              <a:buNone/>
            </a:pPr>
            <a:r>
              <a:rPr lang="en-US" sz="1300" dirty="0"/>
              <a:t>Name: &lt;input type="text" name="name"&gt;&lt;</a:t>
            </a:r>
            <a:r>
              <a:rPr lang="en-US" sz="1300" dirty="0" err="1"/>
              <a:t>br</a:t>
            </a:r>
            <a:r>
              <a:rPr lang="en-US" sz="1300" dirty="0"/>
              <a:t>&gt; </a:t>
            </a:r>
          </a:p>
          <a:p>
            <a:pPr marL="0" indent="0">
              <a:buNone/>
            </a:pPr>
            <a:r>
              <a:rPr lang="en-US" sz="1300" dirty="0"/>
              <a:t>E-mail: &lt;input type="text" name="email"&gt;&lt;</a:t>
            </a:r>
            <a:r>
              <a:rPr lang="en-US" sz="1300" dirty="0" err="1"/>
              <a:t>br</a:t>
            </a:r>
            <a:r>
              <a:rPr lang="en-US" sz="1300" dirty="0"/>
              <a:t>&gt;</a:t>
            </a:r>
          </a:p>
          <a:p>
            <a:pPr marL="0" indent="0">
              <a:buNone/>
            </a:pPr>
            <a:r>
              <a:rPr lang="en-US" sz="1300" dirty="0"/>
              <a:t> &lt;input type="submit"&gt; </a:t>
            </a:r>
          </a:p>
          <a:p>
            <a:pPr marL="0" indent="0">
              <a:buNone/>
            </a:pPr>
            <a:r>
              <a:rPr lang="en-US" sz="1300" dirty="0"/>
              <a:t>&lt;/form&gt; </a:t>
            </a:r>
          </a:p>
          <a:p>
            <a:pPr marL="0" indent="0">
              <a:buNone/>
            </a:pPr>
            <a:r>
              <a:rPr lang="en-US" sz="1300" dirty="0"/>
              <a:t>&lt;/body&gt;</a:t>
            </a:r>
          </a:p>
          <a:p>
            <a:pPr marL="0" indent="0">
              <a:buNone/>
            </a:pPr>
            <a:r>
              <a:rPr lang="en-US" sz="1300" dirty="0"/>
              <a:t> &lt;/html&gt;</a:t>
            </a:r>
            <a:endParaRPr sz="1300" dirty="0"/>
          </a:p>
        </p:txBody>
      </p:sp>
      <p:sp>
        <p:nvSpPr>
          <p:cNvPr id="4" name="Content Placeholder 2">
            <a:extLst>
              <a:ext uri="{FF2B5EF4-FFF2-40B4-BE49-F238E27FC236}">
                <a16:creationId xmlns:a16="http://schemas.microsoft.com/office/drawing/2014/main" id="{E3675B12-B827-CF4C-8D56-EA764F9941CE}"/>
              </a:ext>
            </a:extLst>
          </p:cNvPr>
          <p:cNvSpPr txBox="1">
            <a:spLocks/>
          </p:cNvSpPr>
          <p:nvPr/>
        </p:nvSpPr>
        <p:spPr>
          <a:xfrm>
            <a:off x="2027711" y="4241987"/>
            <a:ext cx="5088577" cy="231865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300" dirty="0">
                <a:solidFill>
                  <a:srgbClr val="FF0000"/>
                </a:solidFill>
              </a:rPr>
              <a:t>&lt;html&gt; </a:t>
            </a:r>
          </a:p>
          <a:p>
            <a:pPr marL="0" indent="0">
              <a:buNone/>
            </a:pPr>
            <a:r>
              <a:rPr lang="en-US" sz="1300" dirty="0">
                <a:solidFill>
                  <a:srgbClr val="FF0000"/>
                </a:solidFill>
              </a:rPr>
              <a:t>&lt;body&gt; </a:t>
            </a:r>
          </a:p>
          <a:p>
            <a:pPr marL="0" indent="0">
              <a:buNone/>
            </a:pPr>
            <a:r>
              <a:rPr lang="en-US" sz="1300" dirty="0">
                <a:solidFill>
                  <a:srgbClr val="FF0000"/>
                </a:solidFill>
              </a:rPr>
              <a:t>Welcome</a:t>
            </a:r>
            <a:r>
              <a:rPr lang="en-US" sz="1300" b="1" dirty="0">
                <a:solidFill>
                  <a:srgbClr val="FF0000"/>
                </a:solidFill>
              </a:rPr>
              <a:t>&lt;?</a:t>
            </a:r>
            <a:r>
              <a:rPr lang="en-US" sz="1300" b="1" dirty="0" err="1">
                <a:solidFill>
                  <a:srgbClr val="FF0000"/>
                </a:solidFill>
              </a:rPr>
              <a:t>php</a:t>
            </a:r>
            <a:r>
              <a:rPr lang="en-US" sz="1300" dirty="0">
                <a:solidFill>
                  <a:srgbClr val="FF0000"/>
                </a:solidFill>
              </a:rPr>
              <a:t> echo $_POST["name"]; </a:t>
            </a:r>
            <a:r>
              <a:rPr lang="en-US" sz="1300" b="1" dirty="0">
                <a:solidFill>
                  <a:srgbClr val="FF0000"/>
                </a:solidFill>
              </a:rPr>
              <a:t>?&gt;</a:t>
            </a:r>
            <a:r>
              <a:rPr lang="en-US" sz="1300" dirty="0">
                <a:solidFill>
                  <a:srgbClr val="FF0000"/>
                </a:solidFill>
              </a:rPr>
              <a:t>&lt;</a:t>
            </a:r>
            <a:r>
              <a:rPr lang="en-US" sz="1300" dirty="0" err="1">
                <a:solidFill>
                  <a:srgbClr val="FF0000"/>
                </a:solidFill>
              </a:rPr>
              <a:t>br</a:t>
            </a:r>
            <a:r>
              <a:rPr lang="en-US" sz="1300" dirty="0">
                <a:solidFill>
                  <a:srgbClr val="FF0000"/>
                </a:solidFill>
              </a:rPr>
              <a:t>&gt; </a:t>
            </a:r>
          </a:p>
          <a:p>
            <a:pPr marL="0" indent="0">
              <a:buNone/>
            </a:pPr>
            <a:r>
              <a:rPr lang="en-US" sz="1300" dirty="0">
                <a:solidFill>
                  <a:srgbClr val="FF0000"/>
                </a:solidFill>
              </a:rPr>
              <a:t>Your email address is: </a:t>
            </a:r>
            <a:r>
              <a:rPr lang="en-US" sz="1300" b="1" dirty="0">
                <a:solidFill>
                  <a:srgbClr val="FF0000"/>
                </a:solidFill>
              </a:rPr>
              <a:t>&lt;?</a:t>
            </a:r>
            <a:r>
              <a:rPr lang="en-US" sz="1300" b="1" dirty="0" err="1">
                <a:solidFill>
                  <a:srgbClr val="FF0000"/>
                </a:solidFill>
              </a:rPr>
              <a:t>php</a:t>
            </a:r>
            <a:r>
              <a:rPr lang="en-US" sz="1300" dirty="0">
                <a:solidFill>
                  <a:srgbClr val="FF0000"/>
                </a:solidFill>
              </a:rPr>
              <a:t> echo $_POST["email"]; </a:t>
            </a:r>
            <a:r>
              <a:rPr lang="en-US" sz="1300" b="1" dirty="0">
                <a:solidFill>
                  <a:srgbClr val="FF0000"/>
                </a:solidFill>
              </a:rPr>
              <a:t>?&gt;</a:t>
            </a:r>
            <a:r>
              <a:rPr lang="en-US" sz="1300" dirty="0">
                <a:solidFill>
                  <a:srgbClr val="FF0000"/>
                </a:solidFill>
              </a:rPr>
              <a:t> </a:t>
            </a:r>
          </a:p>
          <a:p>
            <a:pPr marL="0" indent="0">
              <a:buNone/>
            </a:pPr>
            <a:r>
              <a:rPr lang="en-US" sz="1300" dirty="0">
                <a:solidFill>
                  <a:srgbClr val="FF0000"/>
                </a:solidFill>
              </a:rPr>
              <a:t>&lt;/body&gt; </a:t>
            </a:r>
          </a:p>
          <a:p>
            <a:pPr marL="0" indent="0">
              <a:buNone/>
            </a:pPr>
            <a:r>
              <a:rPr lang="en-US" sz="1300" dirty="0">
                <a:solidFill>
                  <a:srgbClr val="FF0000"/>
                </a:solidFill>
              </a:rPr>
              <a:t>&lt;/html&gt;</a:t>
            </a:r>
          </a:p>
        </p:txBody>
      </p:sp>
      <p:sp>
        <p:nvSpPr>
          <p:cNvPr id="5" name="Left Arrow Callout 4">
            <a:extLst>
              <a:ext uri="{FF2B5EF4-FFF2-40B4-BE49-F238E27FC236}">
                <a16:creationId xmlns:a16="http://schemas.microsoft.com/office/drawing/2014/main" id="{CBEC371A-038D-DB47-BA60-A11B053C61E0}"/>
              </a:ext>
            </a:extLst>
          </p:cNvPr>
          <p:cNvSpPr/>
          <p:nvPr/>
        </p:nvSpPr>
        <p:spPr>
          <a:xfrm>
            <a:off x="6472052" y="4607627"/>
            <a:ext cx="2375065" cy="570016"/>
          </a:xfrm>
          <a:prstGeom prst="leftArrowCallou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err="1">
                <a:solidFill>
                  <a:srgbClr val="FF0000"/>
                </a:solidFill>
              </a:rPr>
              <a:t>welcome.php</a:t>
            </a:r>
            <a:endParaRPr lang="en-US" b="1" dirty="0">
              <a:solidFill>
                <a:srgbClr val="FF0000"/>
              </a:solidFill>
            </a:endParaRPr>
          </a:p>
        </p:txBody>
      </p:sp>
    </p:spTree>
    <p:extLst>
      <p:ext uri="{BB962C8B-B14F-4D97-AF65-F5344CB8AC3E}">
        <p14:creationId xmlns:p14="http://schemas.microsoft.com/office/powerpoint/2010/main" val="3260619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PHP - A Simple HTML Form</a:t>
            </a:r>
          </a:p>
        </p:txBody>
      </p:sp>
      <p:sp>
        <p:nvSpPr>
          <p:cNvPr id="3" name="Content Placeholder 2"/>
          <p:cNvSpPr>
            <a:spLocks noGrp="1"/>
          </p:cNvSpPr>
          <p:nvPr>
            <p:ph idx="1"/>
          </p:nvPr>
        </p:nvSpPr>
        <p:spPr>
          <a:xfrm>
            <a:off x="2027711" y="1417638"/>
            <a:ext cx="5088577" cy="2318657"/>
          </a:xfrm>
        </p:spPr>
        <p:txBody>
          <a:bodyPr>
            <a:normAutofit/>
          </a:bodyPr>
          <a:lstStyle/>
          <a:p>
            <a:pPr marL="0" indent="0">
              <a:buNone/>
            </a:pPr>
            <a:r>
              <a:rPr lang="en-US" sz="1300" dirty="0"/>
              <a:t>&lt;html&gt;</a:t>
            </a:r>
          </a:p>
          <a:p>
            <a:pPr marL="0" indent="0">
              <a:buNone/>
            </a:pPr>
            <a:r>
              <a:rPr lang="en-US" sz="1300" dirty="0"/>
              <a:t>&lt;body&gt; </a:t>
            </a:r>
          </a:p>
          <a:p>
            <a:pPr marL="0" indent="0">
              <a:buNone/>
            </a:pPr>
            <a:r>
              <a:rPr lang="en-US" sz="1300" dirty="0"/>
              <a:t>&lt;form action="</a:t>
            </a:r>
            <a:r>
              <a:rPr lang="en-US" sz="1300" dirty="0" err="1"/>
              <a:t>welcome_get.php</a:t>
            </a:r>
            <a:r>
              <a:rPr lang="en-US" sz="1300" dirty="0"/>
              <a:t>" method="GET"&gt; </a:t>
            </a:r>
          </a:p>
          <a:p>
            <a:pPr marL="0" indent="0">
              <a:buNone/>
            </a:pPr>
            <a:r>
              <a:rPr lang="en-US" sz="1300" dirty="0"/>
              <a:t>Name: &lt;input type="text" name="name"&gt;&lt;</a:t>
            </a:r>
            <a:r>
              <a:rPr lang="en-US" sz="1300" dirty="0" err="1"/>
              <a:t>br</a:t>
            </a:r>
            <a:r>
              <a:rPr lang="en-US" sz="1300" dirty="0"/>
              <a:t>&gt; </a:t>
            </a:r>
          </a:p>
          <a:p>
            <a:pPr marL="0" indent="0">
              <a:buNone/>
            </a:pPr>
            <a:r>
              <a:rPr lang="en-US" sz="1300" dirty="0"/>
              <a:t>E-mail: &lt;input type="text" name="email"&gt;&lt;</a:t>
            </a:r>
            <a:r>
              <a:rPr lang="en-US" sz="1300" dirty="0" err="1"/>
              <a:t>br</a:t>
            </a:r>
            <a:r>
              <a:rPr lang="en-US" sz="1300" dirty="0"/>
              <a:t>&gt; </a:t>
            </a:r>
          </a:p>
          <a:p>
            <a:pPr marL="0" indent="0">
              <a:buNone/>
            </a:pPr>
            <a:r>
              <a:rPr lang="en-US" sz="1300" dirty="0"/>
              <a:t>&lt;input type="submit"&gt;</a:t>
            </a:r>
          </a:p>
          <a:p>
            <a:pPr marL="0" indent="0">
              <a:buNone/>
            </a:pPr>
            <a:r>
              <a:rPr lang="en-US" sz="1300" dirty="0"/>
              <a:t>&lt;/form&gt; </a:t>
            </a:r>
          </a:p>
          <a:p>
            <a:pPr marL="0" indent="0">
              <a:buNone/>
            </a:pPr>
            <a:r>
              <a:rPr lang="en-US" sz="1300" dirty="0"/>
              <a:t>&lt;/body&gt; </a:t>
            </a:r>
          </a:p>
          <a:p>
            <a:pPr marL="0" indent="0">
              <a:buNone/>
            </a:pPr>
            <a:r>
              <a:rPr lang="en-US" sz="1300" dirty="0"/>
              <a:t>&lt;/html&gt;</a:t>
            </a:r>
            <a:endParaRPr sz="1300" dirty="0"/>
          </a:p>
        </p:txBody>
      </p:sp>
      <p:sp>
        <p:nvSpPr>
          <p:cNvPr id="4" name="Content Placeholder 2">
            <a:extLst>
              <a:ext uri="{FF2B5EF4-FFF2-40B4-BE49-F238E27FC236}">
                <a16:creationId xmlns:a16="http://schemas.microsoft.com/office/drawing/2014/main" id="{E3675B12-B827-CF4C-8D56-EA764F9941CE}"/>
              </a:ext>
            </a:extLst>
          </p:cNvPr>
          <p:cNvSpPr txBox="1">
            <a:spLocks/>
          </p:cNvSpPr>
          <p:nvPr/>
        </p:nvSpPr>
        <p:spPr>
          <a:xfrm>
            <a:off x="2027711" y="4241987"/>
            <a:ext cx="5088577" cy="231865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300" dirty="0">
                <a:solidFill>
                  <a:srgbClr val="FF0000"/>
                </a:solidFill>
              </a:rPr>
              <a:t>&lt;html&gt; </a:t>
            </a:r>
          </a:p>
          <a:p>
            <a:pPr marL="0" indent="0">
              <a:buNone/>
            </a:pPr>
            <a:r>
              <a:rPr lang="en-US" sz="1300" dirty="0">
                <a:solidFill>
                  <a:srgbClr val="FF0000"/>
                </a:solidFill>
              </a:rPr>
              <a:t>&lt;body&gt; </a:t>
            </a:r>
          </a:p>
          <a:p>
            <a:pPr marL="0" indent="0">
              <a:buNone/>
            </a:pPr>
            <a:r>
              <a:rPr lang="en-US" sz="1300" dirty="0">
                <a:solidFill>
                  <a:srgbClr val="FF0000"/>
                </a:solidFill>
              </a:rPr>
              <a:t>Welcome &lt;?</a:t>
            </a:r>
            <a:r>
              <a:rPr lang="en-US" sz="1300" dirty="0" err="1">
                <a:solidFill>
                  <a:srgbClr val="FF0000"/>
                </a:solidFill>
              </a:rPr>
              <a:t>php</a:t>
            </a:r>
            <a:r>
              <a:rPr lang="en-US" sz="1300" dirty="0">
                <a:solidFill>
                  <a:srgbClr val="FF0000"/>
                </a:solidFill>
              </a:rPr>
              <a:t> echo $_GET["name"]; ?&gt;&lt;</a:t>
            </a:r>
            <a:r>
              <a:rPr lang="en-US" sz="1300" dirty="0" err="1">
                <a:solidFill>
                  <a:srgbClr val="FF0000"/>
                </a:solidFill>
              </a:rPr>
              <a:t>br</a:t>
            </a:r>
            <a:r>
              <a:rPr lang="en-US" sz="1300" dirty="0">
                <a:solidFill>
                  <a:srgbClr val="FF0000"/>
                </a:solidFill>
              </a:rPr>
              <a:t>&gt; Your email address is: &lt;?</a:t>
            </a:r>
            <a:r>
              <a:rPr lang="en-US" sz="1300" dirty="0" err="1">
                <a:solidFill>
                  <a:srgbClr val="FF0000"/>
                </a:solidFill>
              </a:rPr>
              <a:t>php</a:t>
            </a:r>
            <a:r>
              <a:rPr lang="en-US" sz="1300" dirty="0">
                <a:solidFill>
                  <a:srgbClr val="FF0000"/>
                </a:solidFill>
              </a:rPr>
              <a:t> echo $_GET["email"]; ?&gt;</a:t>
            </a:r>
          </a:p>
          <a:p>
            <a:pPr marL="0" indent="0">
              <a:buNone/>
            </a:pPr>
            <a:r>
              <a:rPr lang="en-US" sz="1300" dirty="0">
                <a:solidFill>
                  <a:srgbClr val="FF0000"/>
                </a:solidFill>
              </a:rPr>
              <a:t>&lt;/body&gt; </a:t>
            </a:r>
          </a:p>
          <a:p>
            <a:pPr marL="0" indent="0">
              <a:buNone/>
            </a:pPr>
            <a:r>
              <a:rPr lang="en-US" sz="1300" dirty="0">
                <a:solidFill>
                  <a:srgbClr val="FF0000"/>
                </a:solidFill>
              </a:rPr>
              <a:t>&lt;/html&gt;</a:t>
            </a:r>
          </a:p>
        </p:txBody>
      </p:sp>
      <p:sp>
        <p:nvSpPr>
          <p:cNvPr id="5" name="Left Arrow Callout 4">
            <a:extLst>
              <a:ext uri="{FF2B5EF4-FFF2-40B4-BE49-F238E27FC236}">
                <a16:creationId xmlns:a16="http://schemas.microsoft.com/office/drawing/2014/main" id="{CBEC371A-038D-DB47-BA60-A11B053C61E0}"/>
              </a:ext>
            </a:extLst>
          </p:cNvPr>
          <p:cNvSpPr/>
          <p:nvPr/>
        </p:nvSpPr>
        <p:spPr>
          <a:xfrm>
            <a:off x="6567055" y="5116307"/>
            <a:ext cx="2375065" cy="405719"/>
          </a:xfrm>
          <a:prstGeom prst="leftArrowCallou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dirty="0" err="1">
                <a:solidFill>
                  <a:srgbClr val="FF0000"/>
                </a:solidFill>
              </a:rPr>
              <a:t>welcome_get.php</a:t>
            </a:r>
            <a:endParaRPr lang="en-US" sz="1300" b="1" dirty="0">
              <a:solidFill>
                <a:srgbClr val="FF0000"/>
              </a:solidFill>
            </a:endParaRPr>
          </a:p>
        </p:txBody>
      </p:sp>
    </p:spTree>
    <p:extLst>
      <p:ext uri="{BB962C8B-B14F-4D97-AF65-F5344CB8AC3E}">
        <p14:creationId xmlns:p14="http://schemas.microsoft.com/office/powerpoint/2010/main" val="3254159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 vs. POST</a:t>
            </a:r>
          </a:p>
        </p:txBody>
      </p:sp>
      <p:sp>
        <p:nvSpPr>
          <p:cNvPr id="3" name="Content Placeholder 2"/>
          <p:cNvSpPr>
            <a:spLocks noGrp="1"/>
          </p:cNvSpPr>
          <p:nvPr>
            <p:ph idx="1"/>
          </p:nvPr>
        </p:nvSpPr>
        <p:spPr/>
        <p:txBody>
          <a:bodyPr>
            <a:normAutofit fontScale="92500"/>
          </a:bodyPr>
          <a:lstStyle/>
          <a:p>
            <a:pPr algn="just"/>
            <a:r>
              <a:rPr lang="en-US" sz="2000" dirty="0"/>
              <a:t>Both GET and POST create an array (e.g. array( key1 =&gt; value1, key2 =&gt; value2, key3 =&gt; value3, ...)). This array holds key/value pairs, where keys are the names of the form controls and values are the input data from the user.</a:t>
            </a:r>
          </a:p>
          <a:p>
            <a:pPr algn="just"/>
            <a:endParaRPr lang="en-US" sz="2000" dirty="0"/>
          </a:p>
          <a:p>
            <a:pPr algn="just"/>
            <a:r>
              <a:rPr lang="en-US" sz="2000" dirty="0"/>
              <a:t>Both GET and POST are treated as $_GET and $_POST. These are </a:t>
            </a:r>
            <a:r>
              <a:rPr lang="en-US" sz="2000" dirty="0" err="1"/>
              <a:t>superglobals</a:t>
            </a:r>
            <a:r>
              <a:rPr lang="en-US" sz="2000" dirty="0"/>
              <a:t>, which means that they are always accessible, regardless of scope - and you can access them from any function, class or file without having to do anything special.</a:t>
            </a:r>
          </a:p>
          <a:p>
            <a:pPr algn="just"/>
            <a:endParaRPr lang="en-US" sz="2000" dirty="0"/>
          </a:p>
          <a:p>
            <a:pPr algn="just"/>
            <a:r>
              <a:rPr lang="en-US" sz="2000" dirty="0"/>
              <a:t>$_GET is an array of variables passed to the current script via the URL parameters.</a:t>
            </a:r>
          </a:p>
          <a:p>
            <a:pPr marL="0" indent="0" algn="just">
              <a:buNone/>
            </a:pPr>
            <a:endParaRPr lang="en-US" sz="2000" dirty="0"/>
          </a:p>
          <a:p>
            <a:pPr algn="just"/>
            <a:r>
              <a:rPr lang="en-US" sz="2000" dirty="0"/>
              <a:t>$_POST is an array of variables passed to the current script via the HTTP POST method.</a:t>
            </a:r>
          </a:p>
          <a:p>
            <a:pPr marL="0" indent="0">
              <a:buNone/>
            </a:pPr>
            <a:endParaRPr dirty="0"/>
          </a:p>
        </p:txBody>
      </p:sp>
    </p:spTree>
    <p:extLst>
      <p:ext uri="{BB962C8B-B14F-4D97-AF65-F5344CB8AC3E}">
        <p14:creationId xmlns:p14="http://schemas.microsoft.com/office/powerpoint/2010/main" val="2590221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GET?</a:t>
            </a:r>
          </a:p>
        </p:txBody>
      </p:sp>
      <p:sp>
        <p:nvSpPr>
          <p:cNvPr id="3" name="Content Placeholder 2"/>
          <p:cNvSpPr>
            <a:spLocks noGrp="1"/>
          </p:cNvSpPr>
          <p:nvPr>
            <p:ph idx="1"/>
          </p:nvPr>
        </p:nvSpPr>
        <p:spPr/>
        <p:txBody>
          <a:bodyPr>
            <a:normAutofit lnSpcReduction="10000"/>
          </a:bodyPr>
          <a:lstStyle/>
          <a:p>
            <a:pPr algn="just"/>
            <a:r>
              <a:rPr lang="en-US" sz="2800" dirty="0"/>
              <a:t>Information sent from a form with the GET method is </a:t>
            </a:r>
            <a:r>
              <a:rPr lang="en-US" sz="2800" b="1" dirty="0"/>
              <a:t>visible to everyone</a:t>
            </a:r>
            <a:r>
              <a:rPr lang="en-US" sz="2800" dirty="0"/>
              <a:t> (all variable names and values are displayed in the URL). GET also has limits on the amount of information to send. The limitation is about 2000 characters. However, because the variables are displayed in the URL, it is possible to bookmark the page. This can be useful in some cases.</a:t>
            </a:r>
          </a:p>
          <a:p>
            <a:pPr marL="0" indent="0" algn="just">
              <a:buNone/>
            </a:pPr>
            <a:endParaRPr lang="en-US" sz="2800" dirty="0"/>
          </a:p>
          <a:p>
            <a:pPr algn="just"/>
            <a:r>
              <a:rPr lang="en-US" sz="2800" dirty="0"/>
              <a:t>GET may be used for sending non-sensitive data.</a:t>
            </a:r>
          </a:p>
          <a:p>
            <a:pPr marL="0" indent="0">
              <a:buNone/>
            </a:pPr>
            <a:endParaRPr dirty="0"/>
          </a:p>
        </p:txBody>
      </p:sp>
    </p:spTree>
    <p:extLst>
      <p:ext uri="{BB962C8B-B14F-4D97-AF65-F5344CB8AC3E}">
        <p14:creationId xmlns:p14="http://schemas.microsoft.com/office/powerpoint/2010/main" val="2592694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POST?</a:t>
            </a:r>
          </a:p>
        </p:txBody>
      </p:sp>
      <p:sp>
        <p:nvSpPr>
          <p:cNvPr id="3" name="Content Placeholder 2"/>
          <p:cNvSpPr>
            <a:spLocks noGrp="1"/>
          </p:cNvSpPr>
          <p:nvPr>
            <p:ph idx="1"/>
          </p:nvPr>
        </p:nvSpPr>
        <p:spPr/>
        <p:txBody>
          <a:bodyPr>
            <a:normAutofit/>
          </a:bodyPr>
          <a:lstStyle/>
          <a:p>
            <a:pPr algn="just"/>
            <a:r>
              <a:rPr lang="en-US" sz="2800" dirty="0"/>
              <a:t>Information sent from a form with the POST method is invisible to others (all names/values are embedded within the body of the HTTP request) and has no limits on the amount of information to send.</a:t>
            </a:r>
          </a:p>
          <a:p>
            <a:pPr algn="just"/>
            <a:r>
              <a:rPr lang="en-US" sz="2800" dirty="0"/>
              <a:t>Moreover POST supports advanced functionality such as support for multi-part binary input while uploading files to server.</a:t>
            </a:r>
          </a:p>
          <a:p>
            <a:pPr algn="just"/>
            <a:r>
              <a:rPr lang="en-US" sz="2800" dirty="0"/>
              <a:t>However, because the variables are not displayed in the URL, it is not possible to bookmark the page.</a:t>
            </a:r>
          </a:p>
          <a:p>
            <a:pPr marL="0" indent="0">
              <a:buNone/>
            </a:pPr>
            <a:endParaRPr dirty="0"/>
          </a:p>
        </p:txBody>
      </p:sp>
    </p:spTree>
    <p:extLst>
      <p:ext uri="{BB962C8B-B14F-4D97-AF65-F5344CB8AC3E}">
        <p14:creationId xmlns:p14="http://schemas.microsoft.com/office/powerpoint/2010/main" val="3259133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Example PHP Code for Form Validation</a:t>
            </a:r>
          </a:p>
        </p:txBody>
      </p:sp>
      <p:sp>
        <p:nvSpPr>
          <p:cNvPr id="4" name="TextBox 3"/>
          <p:cNvSpPr txBox="1"/>
          <p:nvPr/>
        </p:nvSpPr>
        <p:spPr>
          <a:xfrm>
            <a:off x="575953" y="850612"/>
            <a:ext cx="8229600" cy="5770811"/>
          </a:xfrm>
          <a:prstGeom prst="rect">
            <a:avLst/>
          </a:prstGeom>
          <a:noFill/>
        </p:spPr>
        <p:txBody>
          <a:bodyPr wrap="square">
            <a:spAutoFit/>
          </a:bodyPr>
          <a:lstStyle/>
          <a:p>
            <a:endParaRPr dirty="0"/>
          </a:p>
          <a:p>
            <a:pPr>
              <a:defRPr sz="1000">
                <a:latin typeface="Courier New"/>
              </a:defRPr>
            </a:pPr>
            <a:r>
              <a:rPr sz="1300" b="1" dirty="0"/>
              <a:t>&lt;?</a:t>
            </a:r>
            <a:r>
              <a:rPr sz="1300" b="1" dirty="0" err="1"/>
              <a:t>php</a:t>
            </a:r>
            <a:br>
              <a:rPr sz="1300" b="1" dirty="0"/>
            </a:br>
            <a:r>
              <a:rPr sz="1300" b="1" dirty="0"/>
              <a:t>$</a:t>
            </a:r>
            <a:r>
              <a:rPr sz="1300" b="1" dirty="0" err="1"/>
              <a:t>nameErr</a:t>
            </a:r>
            <a:r>
              <a:rPr sz="1300" b="1" dirty="0"/>
              <a:t> = $</a:t>
            </a:r>
            <a:r>
              <a:rPr sz="1300" b="1" dirty="0" err="1"/>
              <a:t>emailErr</a:t>
            </a:r>
            <a:r>
              <a:rPr sz="1300" b="1" dirty="0"/>
              <a:t> = "";</a:t>
            </a:r>
            <a:br>
              <a:rPr sz="1300" b="1" dirty="0"/>
            </a:br>
            <a:r>
              <a:rPr sz="1300" b="1" dirty="0"/>
              <a:t>$name = $email = "";</a:t>
            </a:r>
            <a:br>
              <a:rPr sz="1300" b="1" dirty="0"/>
            </a:br>
            <a:br>
              <a:rPr sz="1300" b="1" dirty="0"/>
            </a:br>
            <a:r>
              <a:rPr sz="1300" b="1" dirty="0"/>
              <a:t>if ($_SERVER["REQUEST_METHOD"] == "POST") {</a:t>
            </a:r>
            <a:br>
              <a:rPr sz="1300" b="1" dirty="0"/>
            </a:br>
            <a:r>
              <a:rPr sz="1300" b="1" dirty="0"/>
              <a:t>    if (empty($_POST["name"])) {</a:t>
            </a:r>
            <a:br>
              <a:rPr sz="1300" b="1" dirty="0"/>
            </a:br>
            <a:r>
              <a:rPr sz="1300" b="1" dirty="0"/>
              <a:t>        $</a:t>
            </a:r>
            <a:r>
              <a:rPr sz="1300" b="1" dirty="0" err="1"/>
              <a:t>nameErr</a:t>
            </a:r>
            <a:r>
              <a:rPr sz="1300" b="1" dirty="0"/>
              <a:t> = "Name is required";</a:t>
            </a:r>
            <a:br>
              <a:rPr sz="1300" b="1" dirty="0"/>
            </a:br>
            <a:r>
              <a:rPr sz="1300" b="1" dirty="0"/>
              <a:t>    } else {</a:t>
            </a:r>
            <a:br>
              <a:rPr sz="1300" b="1" dirty="0"/>
            </a:br>
            <a:r>
              <a:rPr sz="1300" b="1" dirty="0"/>
              <a:t>        $name = </a:t>
            </a:r>
            <a:r>
              <a:rPr sz="1300" b="1" dirty="0" err="1"/>
              <a:t>test_input</a:t>
            </a:r>
            <a:r>
              <a:rPr sz="1300" b="1" dirty="0"/>
              <a:t>($_POST["name"]);</a:t>
            </a:r>
            <a:br>
              <a:rPr sz="1300" b="1" dirty="0"/>
            </a:br>
            <a:r>
              <a:rPr sz="1300" b="1" dirty="0"/>
              <a:t>    }</a:t>
            </a:r>
            <a:br>
              <a:rPr sz="1300" b="1" dirty="0"/>
            </a:br>
            <a:br>
              <a:rPr sz="1300" b="1" dirty="0"/>
            </a:br>
            <a:r>
              <a:rPr sz="1300" b="1" dirty="0"/>
              <a:t>    if (empty($_POST["email"])) {</a:t>
            </a:r>
            <a:br>
              <a:rPr sz="1300" b="1" dirty="0"/>
            </a:br>
            <a:r>
              <a:rPr sz="1300" b="1" dirty="0"/>
              <a:t>        $</a:t>
            </a:r>
            <a:r>
              <a:rPr sz="1300" b="1" dirty="0" err="1"/>
              <a:t>emailErr</a:t>
            </a:r>
            <a:r>
              <a:rPr sz="1300" b="1" dirty="0"/>
              <a:t> = "Email is required";</a:t>
            </a:r>
            <a:br>
              <a:rPr sz="1300" b="1" dirty="0"/>
            </a:br>
            <a:r>
              <a:rPr sz="1300" b="1" dirty="0"/>
              <a:t>    } else if (!</a:t>
            </a:r>
            <a:r>
              <a:rPr sz="1300" b="1" dirty="0" err="1"/>
              <a:t>filter_var</a:t>
            </a:r>
            <a:r>
              <a:rPr sz="1300" b="1" dirty="0"/>
              <a:t>($_POST["email"], FILTER_VALIDATE_EMAIL)) {</a:t>
            </a:r>
            <a:br>
              <a:rPr sz="1300" b="1" dirty="0"/>
            </a:br>
            <a:r>
              <a:rPr sz="1300" b="1" dirty="0"/>
              <a:t>        $</a:t>
            </a:r>
            <a:r>
              <a:rPr sz="1300" b="1" dirty="0" err="1"/>
              <a:t>emailErr</a:t>
            </a:r>
            <a:r>
              <a:rPr sz="1300" b="1" dirty="0"/>
              <a:t> = "Invalid email format";</a:t>
            </a:r>
            <a:br>
              <a:rPr sz="1300" b="1" dirty="0"/>
            </a:br>
            <a:r>
              <a:rPr sz="1300" b="1" dirty="0"/>
              <a:t>    } else {</a:t>
            </a:r>
            <a:br>
              <a:rPr sz="1300" b="1" dirty="0"/>
            </a:br>
            <a:r>
              <a:rPr sz="1300" b="1" dirty="0"/>
              <a:t>        $email = </a:t>
            </a:r>
            <a:r>
              <a:rPr sz="1300" b="1" dirty="0" err="1"/>
              <a:t>test_input</a:t>
            </a:r>
            <a:r>
              <a:rPr sz="1300" b="1" dirty="0"/>
              <a:t>($_POST["email"]);</a:t>
            </a:r>
            <a:br>
              <a:rPr sz="1300" b="1" dirty="0"/>
            </a:br>
            <a:r>
              <a:rPr sz="1300" b="1" dirty="0"/>
              <a:t>    }</a:t>
            </a:r>
            <a:br>
              <a:rPr sz="1300" b="1" dirty="0"/>
            </a:br>
            <a:r>
              <a:rPr sz="1300" b="1" dirty="0"/>
              <a:t>}</a:t>
            </a:r>
            <a:br>
              <a:rPr sz="1300" b="1" dirty="0"/>
            </a:br>
            <a:br>
              <a:rPr sz="1300" b="1" dirty="0"/>
            </a:br>
            <a:r>
              <a:rPr sz="1300" b="1" dirty="0"/>
              <a:t>function </a:t>
            </a:r>
            <a:r>
              <a:rPr sz="1300" b="1" dirty="0" err="1"/>
              <a:t>test_input</a:t>
            </a:r>
            <a:r>
              <a:rPr sz="1300" b="1" dirty="0"/>
              <a:t>($data) {</a:t>
            </a:r>
            <a:br>
              <a:rPr sz="1300" b="1" dirty="0"/>
            </a:br>
            <a:r>
              <a:rPr sz="1300" b="1" dirty="0"/>
              <a:t>    $data = trim($data);</a:t>
            </a:r>
            <a:br>
              <a:rPr sz="1300" b="1" dirty="0"/>
            </a:br>
            <a:r>
              <a:rPr sz="1300" b="1" dirty="0"/>
              <a:t>    $data = </a:t>
            </a:r>
            <a:r>
              <a:rPr sz="1300" b="1" dirty="0" err="1"/>
              <a:t>stripslashes</a:t>
            </a:r>
            <a:r>
              <a:rPr sz="1300" b="1" dirty="0"/>
              <a:t>($data);</a:t>
            </a:r>
            <a:br>
              <a:rPr sz="1300" b="1" dirty="0"/>
            </a:br>
            <a:r>
              <a:rPr sz="1300" b="1" dirty="0"/>
              <a:t>    $data = </a:t>
            </a:r>
            <a:r>
              <a:rPr sz="1300" b="1" dirty="0" err="1"/>
              <a:t>htmlspecialchars</a:t>
            </a:r>
            <a:r>
              <a:rPr sz="1300" b="1" dirty="0"/>
              <a:t>($data);</a:t>
            </a:r>
            <a:br>
              <a:rPr sz="1300" b="1" dirty="0"/>
            </a:br>
            <a:r>
              <a:rPr sz="1300" b="1" dirty="0"/>
              <a:t>    return $data;</a:t>
            </a:r>
            <a:br>
              <a:rPr sz="1300" b="1" dirty="0"/>
            </a:br>
            <a:r>
              <a:rPr sz="1300" b="1" dirty="0"/>
              <a:t>}</a:t>
            </a:r>
            <a:br>
              <a:rPr sz="1300" b="1" dirty="0"/>
            </a:br>
            <a:r>
              <a:rPr sz="1300" b="1" dirty="0"/>
              <a:t>?&gt;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Displaying Error Messages in Form</a:t>
            </a:r>
          </a:p>
        </p:txBody>
      </p:sp>
      <p:sp>
        <p:nvSpPr>
          <p:cNvPr id="4" name="TextBox 3"/>
          <p:cNvSpPr txBox="1"/>
          <p:nvPr/>
        </p:nvSpPr>
        <p:spPr>
          <a:xfrm>
            <a:off x="682831" y="2024743"/>
            <a:ext cx="8229600" cy="2292935"/>
          </a:xfrm>
          <a:prstGeom prst="rect">
            <a:avLst/>
          </a:prstGeom>
          <a:noFill/>
        </p:spPr>
        <p:txBody>
          <a:bodyPr wrap="square">
            <a:spAutoFit/>
          </a:bodyPr>
          <a:lstStyle/>
          <a:p>
            <a:endParaRPr sz="1300" dirty="0"/>
          </a:p>
          <a:p>
            <a:pPr>
              <a:defRPr sz="1000">
                <a:latin typeface="Courier New"/>
              </a:defRPr>
            </a:pPr>
            <a:r>
              <a:rPr sz="1300" b="1" dirty="0"/>
              <a:t>&lt;form method="post" action="&lt;?</a:t>
            </a:r>
            <a:r>
              <a:rPr sz="1300" b="1" dirty="0" err="1"/>
              <a:t>php</a:t>
            </a:r>
            <a:r>
              <a:rPr sz="1300" b="1" dirty="0"/>
              <a:t> echo </a:t>
            </a:r>
            <a:r>
              <a:rPr sz="1300" b="1" dirty="0" err="1"/>
              <a:t>htmlspecialchars</a:t>
            </a:r>
            <a:r>
              <a:rPr sz="1300" b="1" dirty="0"/>
              <a:t>($_SERVER["PHP_SELF"]);?&gt;"&gt;</a:t>
            </a:r>
            <a:br>
              <a:rPr sz="1300" b="1" dirty="0"/>
            </a:br>
            <a:r>
              <a:rPr sz="1300" b="1" dirty="0"/>
              <a:t>    Name: &lt;input type="text" name="name" value="&lt;?</a:t>
            </a:r>
            <a:r>
              <a:rPr sz="1300" b="1" dirty="0" err="1"/>
              <a:t>php</a:t>
            </a:r>
            <a:r>
              <a:rPr sz="1300" b="1" dirty="0"/>
              <a:t> echo $name;?&gt;"&gt;</a:t>
            </a:r>
            <a:br>
              <a:rPr sz="1300" b="1" dirty="0"/>
            </a:br>
            <a:r>
              <a:rPr sz="1300" b="1" dirty="0"/>
              <a:t>    &lt;span class="error"&gt;&lt;?</a:t>
            </a:r>
            <a:r>
              <a:rPr sz="1300" b="1" dirty="0" err="1"/>
              <a:t>php</a:t>
            </a:r>
            <a:r>
              <a:rPr sz="1300" b="1" dirty="0"/>
              <a:t> echo $</a:t>
            </a:r>
            <a:r>
              <a:rPr sz="1300" b="1" dirty="0" err="1"/>
              <a:t>nameErr</a:t>
            </a:r>
            <a:r>
              <a:rPr sz="1300" b="1" dirty="0"/>
              <a:t>;?&gt;&lt;/span&gt;&lt;</a:t>
            </a:r>
            <a:r>
              <a:rPr sz="1300" b="1" dirty="0" err="1"/>
              <a:t>br</a:t>
            </a:r>
            <a:r>
              <a:rPr sz="1300" b="1" dirty="0"/>
              <a:t>&gt;&lt;</a:t>
            </a:r>
            <a:r>
              <a:rPr sz="1300" b="1" dirty="0" err="1"/>
              <a:t>br</a:t>
            </a:r>
            <a:r>
              <a:rPr sz="1300" b="1" dirty="0"/>
              <a:t>&gt;</a:t>
            </a:r>
            <a:br>
              <a:rPr sz="1300" b="1" dirty="0"/>
            </a:br>
            <a:r>
              <a:rPr sz="1300" b="1" dirty="0"/>
              <a:t>    </a:t>
            </a:r>
            <a:br>
              <a:rPr sz="1300" b="1" dirty="0"/>
            </a:br>
            <a:r>
              <a:rPr sz="1300" b="1" dirty="0"/>
              <a:t>    Email: &lt;input type="text" name="email" value="&lt;?</a:t>
            </a:r>
            <a:r>
              <a:rPr sz="1300" b="1" dirty="0" err="1"/>
              <a:t>php</a:t>
            </a:r>
            <a:r>
              <a:rPr sz="1300" b="1" dirty="0"/>
              <a:t> echo $email;?&gt;"&gt;</a:t>
            </a:r>
            <a:br>
              <a:rPr sz="1300" b="1" dirty="0"/>
            </a:br>
            <a:r>
              <a:rPr sz="1300" b="1" dirty="0"/>
              <a:t>    &lt;span class="error"&gt;&lt;?</a:t>
            </a:r>
            <a:r>
              <a:rPr sz="1300" b="1" dirty="0" err="1"/>
              <a:t>php</a:t>
            </a:r>
            <a:r>
              <a:rPr sz="1300" b="1" dirty="0"/>
              <a:t> echo $</a:t>
            </a:r>
            <a:r>
              <a:rPr sz="1300" b="1" dirty="0" err="1"/>
              <a:t>emailErr</a:t>
            </a:r>
            <a:r>
              <a:rPr sz="1300" b="1" dirty="0"/>
              <a:t>;?&gt;&lt;/span&gt;&lt;</a:t>
            </a:r>
            <a:r>
              <a:rPr sz="1300" b="1" dirty="0" err="1"/>
              <a:t>br</a:t>
            </a:r>
            <a:r>
              <a:rPr sz="1300" b="1" dirty="0"/>
              <a:t>&gt;&lt;</a:t>
            </a:r>
            <a:r>
              <a:rPr sz="1300" b="1" dirty="0" err="1"/>
              <a:t>br</a:t>
            </a:r>
            <a:r>
              <a:rPr sz="1300" b="1" dirty="0"/>
              <a:t>&gt;</a:t>
            </a:r>
            <a:br>
              <a:rPr sz="1300" b="1" dirty="0"/>
            </a:br>
            <a:r>
              <a:rPr sz="1300" b="1" dirty="0"/>
              <a:t>    </a:t>
            </a:r>
            <a:br>
              <a:rPr sz="1300" b="1" dirty="0"/>
            </a:br>
            <a:r>
              <a:rPr sz="1300" b="1" dirty="0"/>
              <a:t>    &lt;input type="submit" name="submit" value="Submit"&gt;</a:t>
            </a:r>
            <a:br>
              <a:rPr sz="1300" b="1" dirty="0"/>
            </a:br>
            <a:r>
              <a:rPr sz="1300" b="1" dirty="0"/>
              <a:t>&lt;/form&gt;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Sanitizing User Input</a:t>
            </a:r>
          </a:p>
        </p:txBody>
      </p:sp>
      <p:sp>
        <p:nvSpPr>
          <p:cNvPr id="3" name="Content Placeholder 2"/>
          <p:cNvSpPr>
            <a:spLocks noGrp="1"/>
          </p:cNvSpPr>
          <p:nvPr>
            <p:ph idx="1"/>
          </p:nvPr>
        </p:nvSpPr>
        <p:spPr/>
        <p:txBody>
          <a:bodyPr/>
          <a:lstStyle/>
          <a:p>
            <a:endParaRPr/>
          </a:p>
          <a:p>
            <a:r>
              <a:t>Use trim(), stripslashes(), htmlspecialchars()</a:t>
            </a:r>
          </a:p>
          <a:p>
            <a:r>
              <a:t>Prevent XSS and injection attacks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Practices</a:t>
            </a:r>
          </a:p>
        </p:txBody>
      </p:sp>
      <p:sp>
        <p:nvSpPr>
          <p:cNvPr id="3" name="Content Placeholder 2"/>
          <p:cNvSpPr>
            <a:spLocks noGrp="1"/>
          </p:cNvSpPr>
          <p:nvPr>
            <p:ph idx="1"/>
          </p:nvPr>
        </p:nvSpPr>
        <p:spPr/>
        <p:txBody>
          <a:bodyPr/>
          <a:lstStyle/>
          <a:p>
            <a:endParaRPr/>
          </a:p>
          <a:p>
            <a:r>
              <a:t>Validate on both client &amp; server side</a:t>
            </a:r>
          </a:p>
          <a:p>
            <a:r>
              <a:t>Provide clear error messages</a:t>
            </a:r>
          </a:p>
          <a:p>
            <a:r>
              <a:t>Use PHP built-in filter functions</a:t>
            </a:r>
          </a:p>
          <a:p>
            <a:r>
              <a:t>Keep validation logic organized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endParaRPr/>
          </a:p>
          <a:p>
            <a:r>
              <a:t>PHP form validation enhances security</a:t>
            </a:r>
          </a:p>
          <a:p>
            <a:r>
              <a:t>Essential for reliable web applications</a:t>
            </a:r>
          </a:p>
          <a:p>
            <a:r>
              <a:t>Easy to implement with PHP functions</a:t>
            </a:r>
          </a:p>
          <a:p>
            <a:r>
              <a:t>Always sanitize and validate user input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a:t>
            </a:r>
          </a:p>
        </p:txBody>
      </p:sp>
      <p:sp>
        <p:nvSpPr>
          <p:cNvPr id="3" name="Content Placeholder 2"/>
          <p:cNvSpPr>
            <a:spLocks noGrp="1"/>
          </p:cNvSpPr>
          <p:nvPr>
            <p:ph idx="1"/>
          </p:nvPr>
        </p:nvSpPr>
        <p:spPr/>
        <p:txBody>
          <a:bodyPr/>
          <a:lstStyle/>
          <a:p>
            <a:endParaRPr/>
          </a:p>
          <a:p>
            <a:pPr algn="ctr"/>
            <a: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608</Words>
  <Application>Microsoft Macintosh PowerPoint</Application>
  <PresentationFormat>On-screen Show (4:3)</PresentationFormat>
  <Paragraphs>103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PHP for Form Validation</vt:lpstr>
      <vt:lpstr>Introduction</vt:lpstr>
      <vt:lpstr>Why Use PHP for Form Validation?</vt:lpstr>
      <vt:lpstr>Basic Workflow of PHP Form Validation</vt:lpstr>
      <vt:lpstr>Common Validation Checks</vt:lpstr>
      <vt:lpstr>PHP - A Simple HTML Form</vt:lpstr>
      <vt:lpstr>PHP - A Simple HTML Form</vt:lpstr>
      <vt:lpstr>GET vs. POST</vt:lpstr>
      <vt:lpstr>When to use GET?</vt:lpstr>
      <vt:lpstr>When to use POST?</vt:lpstr>
      <vt:lpstr>Example PHP Code for Form Validation</vt:lpstr>
      <vt:lpstr>Displaying Error Messages in Form</vt:lpstr>
      <vt:lpstr>Sanitizing User Input</vt:lpstr>
      <vt:lpstr>Best Practices</vt:lpstr>
      <vt:lpstr>Summary</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 for Form Validation</dc:title>
  <dc:subject/>
  <dc:creator/>
  <cp:keywords/>
  <dc:description>generated using python-pptx</dc:description>
  <cp:lastModifiedBy>Microsoft Office User</cp:lastModifiedBy>
  <cp:revision>5</cp:revision>
  <dcterms:created xsi:type="dcterms:W3CDTF">2013-01-27T09:14:16Z</dcterms:created>
  <dcterms:modified xsi:type="dcterms:W3CDTF">2025-07-29T05:06:28Z</dcterms:modified>
  <cp:category/>
</cp:coreProperties>
</file>